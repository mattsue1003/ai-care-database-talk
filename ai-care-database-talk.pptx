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0c4d494c-b8ba-a8fe-aaa4-80a0ce2453c4}">
          <p14:sldIdLst>
            <p14:sldId id="256"/>
            <p14:sldId id="257"/>
            <p14:sldId id="258"/>
          </p14:sldIdLst>
        </p14:section>
        <p14:section name="三個工具" id="{5f1ab943-136d-57c2-87d1-65a0b89db008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加碼教案" id="{51cc9999-6457-706b-830a-b93c135f1b89}">
          <p14:sldIdLst>
            <p14:sldId id="267"/>
          </p14:sldIdLst>
        </p14:section>
        <p14:section name="收尾" id="{792aeaed-f403-7c5a-2eff-0e6677ba916c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zh-TW" altLang="en-US"/>
              <a:t>7/23/19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Click to edit Master text styles</a:t>
            </a:r>
          </a:p>
          <a:p>
            <a:pPr lvl="1"/>
            <a:r>
              <a:rPr lang="zh-TW" altLang="en-US"/>
              <a:t>Second level</a:t>
            </a:r>
          </a:p>
          <a:p>
            <a:pPr lvl="2"/>
            <a:r>
              <a:rPr lang="zh-TW" altLang="en-US"/>
              <a:t>Third level</a:t>
            </a:r>
          </a:p>
          <a:p>
            <a:pPr lvl="3"/>
            <a:r>
              <a:rPr lang="zh-TW" altLang="en-US"/>
              <a:t>Fourth level</a:t>
            </a:r>
          </a:p>
          <a:p>
            <a:pPr lvl="4"/>
            <a:r>
              <a:rPr lang="zh-TW" alt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zh-TW" altLang="en-US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開場 30 秒。先請大家掃右邊 QR，把整份簡報帶走，後面所有網站點了就開。謝謝優照護與中華高齡專業照護訓練協會。一句話點題：「今天 20 分鐘，我只講三個能直接帶回去用的工具，最後送大家五個教案。」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1 分鐘。不念頭銜，挑一句：「我是在案家跑的職能治療師，這些工具都是從現場問題長出來的。」邀請大家點「前往粉專」按讚追蹤，每天都有教案、專業文章，留言就能拿。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1 分鐘。三個場景用問的：「這種時候，你會打給誰？」讓台下舉手。收在一句：答案不能只在督導的腦袋裡。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1 分鐘。三個顏色記住：綠色照顧復能、藍色輔具、紅色異常事件。全部免費、免登入、手機可開。點卡片會直接開啟網站。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2 分鐘。點「開啟資料庫」或右邊畫面打開網站。在搜尋框打「移位」，示範四個資料庫一起出來；點開「床與輪椅之間移位」，給大家看做法、禁忌、通報時機和「複製 AI 提問」。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1 分鐘。復能一句話：不代勞。再講 AI 三守則，強調第三條：緊急先 119，AI 是事後整理用的。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2 分半。點「輔具資料庫」打開網站，先點 GMFCS 第 III 階，再選「住」或「行」，示範篩出來的輔具並點開一張。再點「補助查詢」，說明長照與身障補助怎麼查方向。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2 分鐘。左邊六步驟請大家跟著念一次：安全、處置、通報、記錄、交接、檢討。強調第三步是「打電話」，不是只傳 LINE。點右邊畫面打開網站，點上方「異常事件」分頁，展示 29 則分類。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1 分鐘。每題先念，讓台下喊答案，再換下一頁看答案。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1 分鐘。翻完說：這 29 則都在網頁裡，搜尋框打關鍵字就出來。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1 分鐘。紀錄最常見的錯誤是寫感覺、寫推測。示範把一段口語紀錄丟給 AI，請它依 5W1H 排好、刪掉推測字眼，記得去個資。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2 分半。加碼：同樣的方法也能做活動教案。逐一點開示範，每個停 20 秒：好味島轉一下小島、纏繞畫播一段動畫、日本影片庫篩一個道具、猜歌和猜藝人各點一題。更多教案每天在臉書粉專分享，留言即可取得。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1 分鐘。這些網頁怎麼做出來：從現場問題出發，AI 幫忙整理，每一條都由治療師校對。鼓勵大家從十個最常被問的問題開始。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45 秒。今天提到的網站都在這一頁，點了就開。拿到簡報的人不用再掃 QR，歡迎分享給單位夥伴；教案在粉專留言就能拿。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15 秒。謝謝主辦單位、謝謝每一位在案家的照顧夥伴。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 altLang="en-US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TW" altLang="en-US" sz="14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TW" alt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zh-TW" alt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accent6"/>
                </a:solidFill>
              </a:rPr>
              <a:t>鍾孟修 職能治療師｜AI 輔助照顧、復能與異常事件資料庫</a:t>
            </a:r>
            <a:endParaRPr lang="zh-TW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1002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75895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TW" alt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zh-TW" alt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TW" alt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zh-TW" alt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null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attsue1003.github.io/ai-care-database-talk/" TargetMode="External"/><Relationship Id="rId4" Type="http://schemas.openxmlformats.org/officeDocument/2006/relationships/hyperlink" Target="https://mattsue1003.github.io/ai-care-database-talk/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profile.php?id=100063748491881" TargetMode="External"/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ttsue1003.github.io/homecare-worker-handbook/" TargetMode="External"/><Relationship Id="rId6" Type="http://schemas.openxmlformats.org/officeDocument/2006/relationships/hyperlink" Target="https://mattsue1003.github.io/long-term-care-assistive-devices-database/" TargetMode="External"/><Relationship Id="rId9" Type="http://schemas.openxmlformats.org/officeDocument/2006/relationships/hyperlink" Target="https://mattsue1003.github.io/homecare-worker-handbook/" TargetMode="External"/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4" Type="http://schemas.openxmlformats.org/officeDocument/2006/relationships/image" Target="../media/image-4-3.jpg"/><Relationship Id="rId5" Type="http://schemas.openxmlformats.org/officeDocument/2006/relationships/image" Target="../media/image-4-4.png"/><Relationship Id="rId7" Type="http://schemas.openxmlformats.org/officeDocument/2006/relationships/image" Target="../media/image-4-1.jpg"/><Relationship Id="rId8" Type="http://schemas.openxmlformats.org/officeDocument/2006/relationships/image" Target="../media/image-4-6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attsue1003.github.io/homecare-worker-handbook/" TargetMode="External"/><Relationship Id="rId4" Type="http://schemas.openxmlformats.org/officeDocument/2006/relationships/hyperlink" Target="https://mattsue1003.github.io/homecare-worker-handbook/" TargetMode="External"/><Relationship Id="rId1" Type="http://schemas.openxmlformats.org/officeDocument/2006/relationships/image" Target="../media/image-5-1.png"/><Relationship Id="rId3" Type="http://schemas.openxmlformats.org/officeDocument/2006/relationships/image" Target="../media/image-5-2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attsue1003.github.io/long-term-care-assistive-devices-database/" TargetMode="External"/><Relationship Id="rId4" Type="http://schemas.openxmlformats.org/officeDocument/2006/relationships/hyperlink" Target="https://mattsue1003.github.io/longtermcare/longtermcare.html" TargetMode="External"/><Relationship Id="rId6" Type="http://schemas.openxmlformats.org/officeDocument/2006/relationships/hyperlink" Target="https://mattsue1003.github.io/long-term-care-assistive-devices-database/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5" Type="http://schemas.openxmlformats.org/officeDocument/2006/relationships/image" Target="../media/image-7-3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attsue1003.github.io/homecare-worker-handbook/" TargetMode="External"/><Relationship Id="rId1" Type="http://schemas.openxmlformats.org/officeDocument/2006/relationships/image" Target="../media/image-8-1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attsue1003.github.io/homecare-worker-handbook/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attsue1003.github.io/taiwan-taste-island/" TargetMode="External"/><Relationship Id="rId6" Type="http://schemas.openxmlformats.org/officeDocument/2006/relationships/hyperlink" Target="https://mattsue1003.github.io/tangle-steps/" TargetMode="External"/><Relationship Id="rId9" Type="http://schemas.openxmlformats.org/officeDocument/2006/relationships/hyperlink" Target="https://mattsue1003.github.io/japan-dayservice-activity-videos/" TargetMode="External"/><Relationship Id="rId12" Type="http://schemas.openxmlformats.org/officeDocument/2006/relationships/hyperlink" Target="https://mattsue1003.github.io/old-song-guess/" TargetMode="External"/><Relationship Id="rId15" Type="http://schemas.openxmlformats.org/officeDocument/2006/relationships/hyperlink" Target="https://mattsue1003.github.io/oldstar-geuss-game/" TargetMode="External"/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4" Type="http://schemas.openxmlformats.org/officeDocument/2006/relationships/image" Target="../media/image-12-3.jpg"/><Relationship Id="rId5" Type="http://schemas.openxmlformats.org/officeDocument/2006/relationships/image" Target="../media/image-12-4.png"/><Relationship Id="rId7" Type="http://schemas.openxmlformats.org/officeDocument/2006/relationships/image" Target="../media/image-12-5.jpg"/><Relationship Id="rId8" Type="http://schemas.openxmlformats.org/officeDocument/2006/relationships/image" Target="../media/image-12-6.png"/><Relationship Id="rId10" Type="http://schemas.openxmlformats.org/officeDocument/2006/relationships/image" Target="../media/image-12-7.jpg"/><Relationship Id="rId11" Type="http://schemas.openxmlformats.org/officeDocument/2006/relationships/image" Target="../media/image-12-8.png"/><Relationship Id="rId13" Type="http://schemas.openxmlformats.org/officeDocument/2006/relationships/image" Target="../media/image-12-9.jpg"/><Relationship Id="rId14" Type="http://schemas.openxmlformats.org/officeDocument/2006/relationships/image" Target="../media/image-12-10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mattsue1003.github.io/homecare-worker-handbook/" TargetMode="External"/><Relationship Id="rId4" Type="http://schemas.openxmlformats.org/officeDocument/2006/relationships/hyperlink" Target="https://mattsue1003.github.io/long-term-care-assistive-devices-database/" TargetMode="External"/><Relationship Id="rId6" Type="http://schemas.openxmlformats.org/officeDocument/2006/relationships/hyperlink" Target="https://mattsue1003.github.io/longtermcare/" TargetMode="External"/><Relationship Id="rId8" Type="http://schemas.openxmlformats.org/officeDocument/2006/relationships/hyperlink" Target="https://mattsue1003.github.io/taiwan-taste-island/" TargetMode="External"/><Relationship Id="rId10" Type="http://schemas.openxmlformats.org/officeDocument/2006/relationships/hyperlink" Target="https://mattsue1003.github.io/tangle-steps/" TargetMode="External"/><Relationship Id="rId12" Type="http://schemas.openxmlformats.org/officeDocument/2006/relationships/hyperlink" Target="https://mattsue1003.github.io/japan-dayservice-activity-videos/" TargetMode="External"/><Relationship Id="rId14" Type="http://schemas.openxmlformats.org/officeDocument/2006/relationships/hyperlink" Target="https://mattsue1003.github.io/old-song-guess/" TargetMode="External"/><Relationship Id="rId16" Type="http://schemas.openxmlformats.org/officeDocument/2006/relationships/hyperlink" Target="https://mattsue1003.github.io/oldstar-geuss-game/" TargetMode="External"/><Relationship Id="rId18" Type="http://schemas.openxmlformats.org/officeDocument/2006/relationships/hyperlink" Target="https://www.facebook.com/profile.php?id=100063748491881" TargetMode="External"/><Relationship Id="rId20" Type="http://schemas.openxmlformats.org/officeDocument/2006/relationships/hyperlink" Target="https://mattsue1003.github.io/ai-care-database-talk/" TargetMode="External"/><Relationship Id="rId22" Type="http://schemas.openxmlformats.org/officeDocument/2006/relationships/hyperlink" Target="https://mattsue1003.github.io/ai-care-database-talk/" TargetMode="External"/><Relationship Id="rId1" Type="http://schemas.openxmlformats.org/officeDocument/2006/relationships/image" Target="../media/image-14-1.png"/><Relationship Id="rId3" Type="http://schemas.openxmlformats.org/officeDocument/2006/relationships/image" Target="../media/image-14-2.png"/><Relationship Id="rId5" Type="http://schemas.openxmlformats.org/officeDocument/2006/relationships/image" Target="../media/image-14-3.png"/><Relationship Id="rId7" Type="http://schemas.openxmlformats.org/officeDocument/2006/relationships/image" Target="../media/image-14-4.png"/><Relationship Id="rId9" Type="http://schemas.openxmlformats.org/officeDocument/2006/relationships/image" Target="../media/image-14-5.png"/><Relationship Id="rId11" Type="http://schemas.openxmlformats.org/officeDocument/2006/relationships/image" Target="../media/image-14-6.png"/><Relationship Id="rId13" Type="http://schemas.openxmlformats.org/officeDocument/2006/relationships/image" Target="../media/image-14-7.png"/><Relationship Id="rId15" Type="http://schemas.openxmlformats.org/officeDocument/2006/relationships/image" Target="../media/image-14-8.png"/><Relationship Id="rId17" Type="http://schemas.openxmlformats.org/officeDocument/2006/relationships/image" Target="../media/image-14-9.png"/><Relationship Id="rId19" Type="http://schemas.openxmlformats.org/officeDocument/2006/relationships/image" Target="../media/image-14-10.png"/><Relationship Id="rId21" Type="http://schemas.openxmlformats.org/officeDocument/2006/relationships/image" Target="../media/image-14-11.png"/><Relationship Id="rId23" Type="http://schemas.openxmlformats.org/officeDocument/2006/relationships/slideLayout" Target="../slideLayouts/slideLayout2.xml"/><Relationship Id="rId2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profile.php?id=100063748491881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ard-1"/>
          <p:cNvSpPr/>
          <p:nvPr/>
        </p:nvSpPr>
        <p:spPr>
          <a:xfrm>
            <a:off x="548640" y="685800"/>
            <a:ext cx="521208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accent5"/>
                </a:solidFill>
              </a:rPr>
              <a:t>★  2026 高照之心表揚大會　老師真會獎</a:t>
            </a:r>
            <a:endParaRPr lang="zh-TW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7589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4000" b="1" dirty="0">
                <a:solidFill>
                  <a:schemeClr val="tx1"/>
                </a:solidFill>
              </a:rPr>
              <a:t>AI 輔助於</a:t>
            </a:r>
            <a:pPr algn="l" indent="0" marL="0">
              <a:buNone/>
            </a:pPr>
            <a:r>
              <a:rPr lang="zh-TW" altLang="en-US" sz="4000" b="1" dirty="0">
                <a:solidFill>
                  <a:schemeClr val="accent1"/>
                </a:solidFill>
              </a:rPr>
              <a:t>照顧、復能</a:t>
            </a:r>
            <a:pPr algn="l" indent="0" marL="0">
              <a:buNone/>
            </a:pPr>
            <a:endParaRPr lang="zh-TW" altLang="en-US" sz="4000" dirty="0"/>
          </a:p>
          <a:p>
            <a:pPr algn="l" indent="0" marL="0">
              <a:buNone/>
            </a:pPr>
            <a:r>
              <a:rPr lang="zh-TW" altLang="en-US" sz="4000" b="1" dirty="0">
                <a:solidFill>
                  <a:schemeClr val="tx1"/>
                </a:solidFill>
              </a:rPr>
              <a:t>以及</a:t>
            </a:r>
            <a:pPr algn="l" indent="0" marL="0">
              <a:buNone/>
            </a:pPr>
            <a:r>
              <a:rPr lang="zh-TW" altLang="en-US" sz="4000" b="1" dirty="0">
                <a:solidFill>
                  <a:schemeClr val="accent3"/>
                </a:solidFill>
              </a:rPr>
              <a:t>異常事件</a:t>
            </a:r>
            <a:endParaRPr lang="zh-TW" altLang="en-US" sz="4000" dirty="0"/>
          </a:p>
          <a:p>
            <a:pPr algn="l" indent="0" marL="0">
              <a:buNone/>
            </a:pPr>
            <a:r>
              <a:rPr lang="zh-TW" altLang="en-US" sz="4000" b="1" dirty="0">
                <a:solidFill>
                  <a:schemeClr val="tx1"/>
                </a:solidFill>
              </a:rPr>
              <a:t>資料庫之應用</a:t>
            </a:r>
            <a:endParaRPr lang="zh-TW" altLang="en-US" sz="4000" dirty="0"/>
          </a:p>
        </p:txBody>
      </p:sp>
      <p:sp>
        <p:nvSpPr>
          <p:cNvPr id="4" name="text-2"/>
          <p:cNvSpPr txBox="1"/>
          <p:nvPr/>
        </p:nvSpPr>
        <p:spPr>
          <a:xfrm>
            <a:off x="548640" y="38862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TW" altLang="en-US" sz="1800" dirty="0">
                <a:solidFill>
                  <a:schemeClr val="accent6"/>
                </a:solidFill>
              </a:rPr>
              <a:t>三個免費、手機就能開的網頁工具，</a:t>
            </a:r>
            <a:endParaRPr lang="zh-TW" alt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zh-TW" altLang="en-US" sz="1800" dirty="0">
                <a:solidFill>
                  <a:schemeClr val="accent6"/>
                </a:solidFill>
              </a:rPr>
              <a:t>把專業放進每一位照顧夥伴的口袋。</a:t>
            </a:r>
            <a:endParaRPr lang="zh-TW" altLang="en-US" sz="1800" dirty="0"/>
          </a:p>
        </p:txBody>
      </p:sp>
      <p:sp>
        <p:nvSpPr>
          <p:cNvPr id="5" name="text-3"/>
          <p:cNvSpPr txBox="1"/>
          <p:nvPr/>
        </p:nvSpPr>
        <p:spPr>
          <a:xfrm>
            <a:off x="548640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600" b="1" dirty="0">
                <a:solidFill>
                  <a:schemeClr val="tx1"/>
                </a:solidFill>
              </a:rPr>
              <a:t>鍾孟修　職能治療師</a:t>
            </a:r>
            <a:endParaRPr lang="zh-TW" altLang="en-US" sz="2600" dirty="0"/>
          </a:p>
        </p:txBody>
      </p:sp>
      <p:sp>
        <p:nvSpPr>
          <p:cNvPr id="6" name="text-4"/>
          <p:cNvSpPr txBox="1"/>
          <p:nvPr/>
        </p:nvSpPr>
        <p:spPr>
          <a:xfrm>
            <a:off x="548640" y="5394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accent6"/>
                </a:solidFill>
              </a:rPr>
              <a:t>愛迪樂有限公司 執行長｜愛迪樂居家職能治療所 所長</a:t>
            </a:r>
            <a:endParaRPr lang="zh-TW" altLang="en-US" sz="1500" dirty="0"/>
          </a:p>
        </p:txBody>
      </p:sp>
      <p:sp>
        <p:nvSpPr>
          <p:cNvPr id="7" name="text-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2026.11.01　集思台大會議中心 蘇格拉底廳</a:t>
            </a:r>
            <a:endParaRPr lang="zh-TW" altLang="en-US" sz="1200" dirty="0"/>
          </a:p>
        </p:txBody>
      </p:sp>
      <p:sp>
        <p:nvSpPr>
          <p:cNvPr id="8" name="text-6"/>
          <p:cNvSpPr txBox="1"/>
          <p:nvPr/>
        </p:nvSpPr>
        <p:spPr>
          <a:xfrm>
            <a:off x="6126480" y="621792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主辦：優照護 × 中華高齡專業照護訓練協會</a:t>
            </a:r>
            <a:endParaRPr lang="zh-TW" altLang="en-US" sz="1200" dirty="0"/>
          </a:p>
        </p:txBody>
      </p:sp>
      <p:sp>
        <p:nvSpPr>
          <p:cNvPr id="9" name="deck-qr-card-7"/>
          <p:cNvSpPr/>
          <p:nvPr/>
        </p:nvSpPr>
        <p:spPr>
          <a:xfrm>
            <a:off x="8595360" y="777240"/>
            <a:ext cx="3044952" cy="5074920"/>
          </a:xfrm>
          <a:prstGeom prst="roundRect">
            <a:avLst>
              <a:gd name="adj" fmla="val 3604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pic>
        <p:nvPicPr>
          <p:cNvPr id="10" name="deck-qr-8" descr="網頁簡報 QR code">
            <a:hlinkClick r:id="rId2" tooltip="開啟網頁簡報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1051560"/>
            <a:ext cx="2377440" cy="2377440"/>
          </a:xfrm>
          <a:prstGeom prst="rect">
            <a:avLst/>
          </a:prstGeom>
        </p:spPr>
      </p:pic>
      <p:sp>
        <p:nvSpPr>
          <p:cNvPr id="11" name="text-9"/>
          <p:cNvSpPr txBox="1"/>
          <p:nvPr/>
        </p:nvSpPr>
        <p:spPr>
          <a:xfrm>
            <a:off x="8732520" y="361188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先掃這個，帶走整份簡報</a:t>
            </a:r>
            <a:endParaRPr lang="zh-TW" altLang="en-US" sz="1800" dirty="0"/>
          </a:p>
        </p:txBody>
      </p:sp>
      <p:sp>
        <p:nvSpPr>
          <p:cNvPr id="12" name="text-10"/>
          <p:cNvSpPr txBox="1"/>
          <p:nvPr/>
        </p:nvSpPr>
        <p:spPr>
          <a:xfrm>
            <a:off x="8778240" y="406908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簡報裡的網站、教案、粉專，點了就能直接開啟</a:t>
            </a:r>
            <a:endParaRPr lang="zh-TW" altLang="en-US" sz="1300" dirty="0"/>
          </a:p>
        </p:txBody>
      </p:sp>
      <p:sp>
        <p:nvSpPr>
          <p:cNvPr id="13" name="text-11"/>
          <p:cNvSpPr txBox="1"/>
          <p:nvPr/>
        </p:nvSpPr>
        <p:spPr>
          <a:xfrm>
            <a:off x="8732520" y="4892040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mattsue1003.github.io/</a:t>
            </a:r>
            <a:endParaRPr lang="zh-TW" alt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ai-care-database-talk</a:t>
            </a:r>
            <a:endParaRPr lang="zh-TW" altLang="en-US" sz="1100" dirty="0"/>
          </a:p>
        </p:txBody>
      </p:sp>
      <p:pic>
        <p:nvPicPr>
          <p:cNvPr id="14" name="link-12" descr="開啟網頁簡報">
            <a:hlinkClick r:id="rId4" tooltip="開啟網頁簡報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777240"/>
            <a:ext cx="304495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講師介紹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鍾孟修　</a:t>
            </a:r>
            <a:pPr algn="l" indent="0" marL="0">
              <a:buNone/>
            </a:pPr>
            <a:r>
              <a:rPr lang="zh-TW" altLang="en-US" sz="2600" b="1" dirty="0">
                <a:solidFill>
                  <a:schemeClr val="accent6"/>
                </a:solidFill>
              </a:rPr>
              <a:t>職能治療師</a:t>
            </a:r>
            <a:endParaRPr lang="zh-TW" altLang="en-US" sz="3400" dirty="0"/>
          </a:p>
        </p:txBody>
      </p:sp>
      <p:pic>
        <p:nvPicPr>
          <p:cNvPr id="4" name="photo-13" descr="鍾孟修 職能治療師與女兒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4114800" cy="4114800"/>
          </a:xfrm>
          <a:prstGeom prst="rect">
            <a:avLst/>
          </a:prstGeom>
        </p:spPr>
      </p:pic>
      <p:sp>
        <p:nvSpPr>
          <p:cNvPr id="5" name="text-14"/>
          <p:cNvSpPr txBox="1"/>
          <p:nvPr/>
        </p:nvSpPr>
        <p:spPr>
          <a:xfrm>
            <a:off x="5074920" y="17373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1900" dirty="0">
                <a:solidFill>
                  <a:schemeClr val="tx1"/>
                </a:solidFill>
              </a:rPr>
              <a:t>愛迪樂有限公司　執行長</a:t>
            </a:r>
            <a:endParaRPr lang="zh-TW" alt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1900" dirty="0">
                <a:solidFill>
                  <a:schemeClr val="tx1"/>
                </a:solidFill>
              </a:rPr>
              <a:t>愛迪樂居家職能治療所　所長</a:t>
            </a:r>
            <a:endParaRPr lang="zh-TW" alt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1900" dirty="0">
                <a:solidFill>
                  <a:schemeClr val="tx1"/>
                </a:solidFill>
              </a:rPr>
              <a:t>社團法人台灣生活復能健康促進協會　副理事長</a:t>
            </a:r>
            <a:endParaRPr lang="zh-TW" alt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1900" dirty="0">
                <a:solidFill>
                  <a:schemeClr val="tx1"/>
                </a:solidFill>
              </a:rPr>
              <a:t>中華高齡專業照護訓練協會　理事</a:t>
            </a:r>
            <a:endParaRPr lang="zh-TW" altLang="en-US" sz="1900" dirty="0"/>
          </a:p>
        </p:txBody>
      </p:sp>
      <p:sp>
        <p:nvSpPr>
          <p:cNvPr id="6" name="tag-15"/>
          <p:cNvSpPr/>
          <p:nvPr/>
        </p:nvSpPr>
        <p:spPr>
          <a:xfrm>
            <a:off x="5074920" y="3611880"/>
            <a:ext cx="658368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復能</a:t>
            </a:r>
            <a:endParaRPr lang="zh-TW" altLang="en-US" sz="1300" dirty="0"/>
          </a:p>
        </p:txBody>
      </p:sp>
      <p:sp>
        <p:nvSpPr>
          <p:cNvPr id="7" name="tag-16"/>
          <p:cNvSpPr/>
          <p:nvPr/>
        </p:nvSpPr>
        <p:spPr>
          <a:xfrm>
            <a:off x="5843016" y="3611880"/>
            <a:ext cx="1042416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健康促進</a:t>
            </a:r>
            <a:endParaRPr lang="zh-TW" altLang="en-US" sz="1300" dirty="0"/>
          </a:p>
        </p:txBody>
      </p:sp>
      <p:sp>
        <p:nvSpPr>
          <p:cNvPr id="8" name="tag-17"/>
          <p:cNvSpPr/>
          <p:nvPr/>
        </p:nvSpPr>
        <p:spPr>
          <a:xfrm>
            <a:off x="6995160" y="3611880"/>
            <a:ext cx="658368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教學</a:t>
            </a:r>
            <a:endParaRPr lang="zh-TW" altLang="en-US" sz="1300" dirty="0"/>
          </a:p>
        </p:txBody>
      </p:sp>
      <p:sp>
        <p:nvSpPr>
          <p:cNvPr id="9" name="tag-18"/>
          <p:cNvSpPr/>
          <p:nvPr/>
        </p:nvSpPr>
        <p:spPr>
          <a:xfrm>
            <a:off x="7763256" y="3611880"/>
            <a:ext cx="749808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AI</a:t>
            </a:r>
            <a:endParaRPr lang="zh-TW" altLang="en-US" sz="1300" dirty="0"/>
          </a:p>
        </p:txBody>
      </p:sp>
      <p:sp>
        <p:nvSpPr>
          <p:cNvPr id="10" name="tag-19"/>
          <p:cNvSpPr/>
          <p:nvPr/>
        </p:nvSpPr>
        <p:spPr>
          <a:xfrm>
            <a:off x="8622792" y="361188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失智症復健</a:t>
            </a:r>
            <a:endParaRPr lang="zh-TW" altLang="en-US" sz="1300" dirty="0"/>
          </a:p>
        </p:txBody>
      </p:sp>
      <p:sp>
        <p:nvSpPr>
          <p:cNvPr id="11" name="tag-20"/>
          <p:cNvSpPr/>
          <p:nvPr/>
        </p:nvSpPr>
        <p:spPr>
          <a:xfrm>
            <a:off x="9966960" y="3611880"/>
            <a:ext cx="1042416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中風復健</a:t>
            </a:r>
            <a:endParaRPr lang="zh-TW" altLang="en-US" sz="1300" dirty="0"/>
          </a:p>
        </p:txBody>
      </p:sp>
      <p:sp>
        <p:nvSpPr>
          <p:cNvPr id="12" name="tag-21"/>
          <p:cNvSpPr/>
          <p:nvPr/>
        </p:nvSpPr>
        <p:spPr>
          <a:xfrm>
            <a:off x="5074920" y="4069080"/>
            <a:ext cx="850392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體智能</a:t>
            </a:r>
            <a:endParaRPr lang="zh-TW" altLang="en-US" sz="1300" dirty="0"/>
          </a:p>
        </p:txBody>
      </p:sp>
      <p:sp>
        <p:nvSpPr>
          <p:cNvPr id="13" name="tag-22"/>
          <p:cNvSpPr/>
          <p:nvPr/>
        </p:nvSpPr>
        <p:spPr>
          <a:xfrm>
            <a:off x="6035040" y="4069080"/>
            <a:ext cx="658368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運動</a:t>
            </a:r>
            <a:endParaRPr lang="zh-TW" altLang="en-US" sz="1300" dirty="0"/>
          </a:p>
        </p:txBody>
      </p:sp>
      <p:sp>
        <p:nvSpPr>
          <p:cNvPr id="14" name="tag-23"/>
          <p:cNvSpPr/>
          <p:nvPr/>
        </p:nvSpPr>
        <p:spPr>
          <a:xfrm>
            <a:off x="6803136" y="4069080"/>
            <a:ext cx="658368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身障</a:t>
            </a:r>
            <a:endParaRPr lang="zh-TW" altLang="en-US" sz="1300" dirty="0"/>
          </a:p>
        </p:txBody>
      </p:sp>
      <p:sp>
        <p:nvSpPr>
          <p:cNvPr id="15" name="tag-24"/>
          <p:cNvSpPr/>
          <p:nvPr/>
        </p:nvSpPr>
        <p:spPr>
          <a:xfrm>
            <a:off x="7571232" y="4069080"/>
            <a:ext cx="658368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長照</a:t>
            </a:r>
            <a:endParaRPr lang="zh-TW" altLang="en-US" sz="1300" dirty="0"/>
          </a:p>
        </p:txBody>
      </p:sp>
      <p:sp>
        <p:nvSpPr>
          <p:cNvPr id="16" name="fb-card-25"/>
          <p:cNvSpPr/>
          <p:nvPr/>
        </p:nvSpPr>
        <p:spPr>
          <a:xfrm>
            <a:off x="5074920" y="4709160"/>
            <a:ext cx="6565392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7" name="fb-icon-26"/>
          <p:cNvSpPr/>
          <p:nvPr/>
        </p:nvSpPr>
        <p:spPr>
          <a:xfrm>
            <a:off x="5303520" y="4937760"/>
            <a:ext cx="68580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zh-TW" altLang="en-US" sz="3000" dirty="0"/>
          </a:p>
        </p:txBody>
      </p:sp>
      <p:sp>
        <p:nvSpPr>
          <p:cNvPr id="18" name="text-27"/>
          <p:cNvSpPr txBox="1"/>
          <p:nvPr/>
        </p:nvSpPr>
        <p:spPr>
          <a:xfrm>
            <a:off x="6172200" y="4919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按讚・追蹤・分享臉書粉專</a:t>
            </a:r>
            <a:endParaRPr lang="zh-TW" altLang="en-US" sz="1700" dirty="0"/>
          </a:p>
        </p:txBody>
      </p:sp>
      <p:sp>
        <p:nvSpPr>
          <p:cNvPr id="19" name="text-28"/>
          <p:cNvSpPr txBox="1"/>
          <p:nvPr/>
        </p:nvSpPr>
        <p:spPr>
          <a:xfrm>
            <a:off x="6172200" y="5303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每天都有教案、專業文章分享，留言即可取得！</a:t>
            </a:r>
            <a:endParaRPr lang="zh-TW" altLang="en-US" sz="1300" dirty="0"/>
          </a:p>
        </p:txBody>
      </p:sp>
      <p:sp>
        <p:nvSpPr>
          <p:cNvPr id="20" name="fb-button-29"/>
          <p:cNvSpPr/>
          <p:nvPr/>
        </p:nvSpPr>
        <p:spPr>
          <a:xfrm>
            <a:off x="9829800" y="5010912"/>
            <a:ext cx="160020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前往粉專 ↗</a:t>
            </a:r>
            <a:endParaRPr lang="zh-TW" altLang="en-US" sz="1500" dirty="0"/>
          </a:p>
        </p:txBody>
      </p:sp>
      <p:pic>
        <p:nvPicPr>
          <p:cNvPr id="21" name="link-30" descr="前往臉書粉專">
            <a:hlinkClick r:id="rId3" tooltip="前往臉書粉專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709160"/>
            <a:ext cx="6565392" cy="1143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現場的三個瞬間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居服員一個人在案家，最怕的是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accent3"/>
                </a:solidFill>
              </a:rPr>
              <a:t>不知道下一步</a:t>
            </a:r>
            <a:endParaRPr lang="zh-TW" altLang="en-US" sz="3400" dirty="0"/>
          </a:p>
        </p:txBody>
      </p:sp>
      <p:sp>
        <p:nvSpPr>
          <p:cNvPr id="4" name="card-31"/>
          <p:cNvSpPr/>
          <p:nvPr/>
        </p:nvSpPr>
        <p:spPr>
          <a:xfrm>
            <a:off x="548640" y="1828800"/>
            <a:ext cx="3529584" cy="2514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5" name="text-32"/>
          <p:cNvSpPr txBox="1"/>
          <p:nvPr/>
        </p:nvSpPr>
        <p:spPr>
          <a:xfrm>
            <a:off x="82296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spc="100" kern="0" dirty="0">
                <a:solidFill>
                  <a:schemeClr val="accent1"/>
                </a:solidFill>
              </a:rPr>
              <a:t>照顧＆復能</a:t>
            </a:r>
            <a:endParaRPr lang="zh-TW" altLang="en-US" sz="1400" dirty="0"/>
          </a:p>
        </p:txBody>
      </p:sp>
      <p:sp>
        <p:nvSpPr>
          <p:cNvPr id="6" name="text-33"/>
          <p:cNvSpPr txBox="1"/>
          <p:nvPr/>
        </p:nvSpPr>
        <p:spPr>
          <a:xfrm>
            <a:off x="822960" y="25603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altLang="en-US" sz="2100" b="1" dirty="0">
                <a:solidFill>
                  <a:schemeClr val="tx1"/>
                </a:solidFill>
              </a:rPr>
              <a:t>「阿嬤說她自己會穿衣服，那我要幫還是不要幫？」</a:t>
            </a:r>
            <a:endParaRPr lang="zh-TW" altLang="en-US" sz="2100" dirty="0"/>
          </a:p>
        </p:txBody>
      </p:sp>
      <p:sp>
        <p:nvSpPr>
          <p:cNvPr id="7" name="card-34"/>
          <p:cNvSpPr/>
          <p:nvPr/>
        </p:nvSpPr>
        <p:spPr>
          <a:xfrm>
            <a:off x="4315968" y="1828800"/>
            <a:ext cx="3529584" cy="2514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8" name="text-35"/>
          <p:cNvSpPr txBox="1"/>
          <p:nvPr/>
        </p:nvSpPr>
        <p:spPr>
          <a:xfrm>
            <a:off x="4590288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spc="100" kern="0" dirty="0">
                <a:solidFill>
                  <a:schemeClr val="accent2"/>
                </a:solidFill>
              </a:rPr>
              <a:t>輔具</a:t>
            </a:r>
            <a:endParaRPr lang="zh-TW" altLang="en-US" sz="1400" dirty="0"/>
          </a:p>
        </p:txBody>
      </p:sp>
      <p:sp>
        <p:nvSpPr>
          <p:cNvPr id="9" name="text-36"/>
          <p:cNvSpPr txBox="1"/>
          <p:nvPr/>
        </p:nvSpPr>
        <p:spPr>
          <a:xfrm>
            <a:off x="4590288" y="25603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altLang="en-US" sz="2100" b="1" dirty="0">
                <a:solidFill>
                  <a:schemeClr val="tx1"/>
                </a:solidFill>
              </a:rPr>
              <a:t>「家屬問：這張洗澡椅有補助嗎？找誰申請？」</a:t>
            </a:r>
            <a:endParaRPr lang="zh-TW" altLang="en-US" sz="2100" dirty="0"/>
          </a:p>
        </p:txBody>
      </p:sp>
      <p:sp>
        <p:nvSpPr>
          <p:cNvPr id="10" name="card-37"/>
          <p:cNvSpPr/>
          <p:nvPr/>
        </p:nvSpPr>
        <p:spPr>
          <a:xfrm>
            <a:off x="8083296" y="1828800"/>
            <a:ext cx="3529584" cy="2514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1" name="text-38"/>
          <p:cNvSpPr txBox="1"/>
          <p:nvPr/>
        </p:nvSpPr>
        <p:spPr>
          <a:xfrm>
            <a:off x="8357616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spc="100" kern="0" dirty="0">
                <a:solidFill>
                  <a:schemeClr val="accent3"/>
                </a:solidFill>
              </a:rPr>
              <a:t>異常事件</a:t>
            </a:r>
            <a:endParaRPr lang="zh-TW" altLang="en-US" sz="1400" dirty="0"/>
          </a:p>
        </p:txBody>
      </p:sp>
      <p:sp>
        <p:nvSpPr>
          <p:cNvPr id="12" name="text-39"/>
          <p:cNvSpPr txBox="1"/>
          <p:nvPr/>
        </p:nvSpPr>
        <p:spPr>
          <a:xfrm>
            <a:off x="8357616" y="25603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altLang="en-US" sz="2100" b="1" dirty="0">
                <a:solidFill>
                  <a:schemeClr val="tx1"/>
                </a:solidFill>
              </a:rPr>
              <a:t>「阿公在浴室跌倒，督導電話打不通。」</a:t>
            </a:r>
            <a:endParaRPr lang="zh-TW" altLang="en-US" sz="2100" dirty="0"/>
          </a:p>
        </p:txBody>
      </p:sp>
      <p:sp>
        <p:nvSpPr>
          <p:cNvPr id="13" name="text-40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答案不能只在督導腦袋裡　</a:t>
            </a:r>
            <a:pPr indent="0" marL="0">
              <a:buNone/>
            </a:pPr>
            <a:r>
              <a:rPr lang="zh-TW" altLang="en-US" sz="3000" b="1" dirty="0">
                <a:solidFill>
                  <a:schemeClr val="accent5"/>
                </a:solidFill>
              </a:rPr>
              <a:t>→　</a:t>
            </a:r>
            <a:pPr indent="0" marL="0">
              <a:buNone/>
            </a:pPr>
            <a:r>
              <a:rPr lang="zh-TW" altLang="en-US" sz="3000" b="1" dirty="0">
                <a:solidFill>
                  <a:schemeClr val="accent1"/>
                </a:solidFill>
              </a:rPr>
              <a:t>要在每個人的口袋裡</a:t>
            </a:r>
            <a:endParaRPr lang="zh-TW" alt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今天帶走的三個工具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一支手機，三個資料庫</a:t>
            </a:r>
            <a:endParaRPr lang="zh-TW" altLang="en-US" sz="3400" dirty="0"/>
          </a:p>
        </p:txBody>
      </p:sp>
      <p:sp>
        <p:nvSpPr>
          <p:cNvPr id="4" name="card-41"/>
          <p:cNvSpPr/>
          <p:nvPr/>
        </p:nvSpPr>
        <p:spPr>
          <a:xfrm>
            <a:off x="548640" y="1783080"/>
            <a:ext cx="3529584" cy="4389120"/>
          </a:xfrm>
          <a:prstGeom prst="roundRect">
            <a:avLst>
              <a:gd name="adj" fmla="val 3627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pic>
        <p:nvPicPr>
          <p:cNvPr id="5" name="thumb-42" descr="AI 照顧與復能資料庫 畫面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1837944"/>
            <a:ext cx="3419856" cy="2011680"/>
          </a:xfrm>
          <a:prstGeom prst="rect">
            <a:avLst/>
          </a:prstGeom>
        </p:spPr>
      </p:pic>
      <p:sp>
        <p:nvSpPr>
          <p:cNvPr id="6" name="text-43"/>
          <p:cNvSpPr txBox="1"/>
          <p:nvPr/>
        </p:nvSpPr>
        <p:spPr>
          <a:xfrm>
            <a:off x="82296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spc="200" kern="0" dirty="0">
                <a:solidFill>
                  <a:schemeClr val="accent1"/>
                </a:solidFill>
              </a:rPr>
              <a:t>TOOL 1</a:t>
            </a:r>
            <a:endParaRPr lang="zh-TW" altLang="en-US" sz="1300" dirty="0"/>
          </a:p>
        </p:txBody>
      </p:sp>
      <p:sp>
        <p:nvSpPr>
          <p:cNvPr id="7" name="text-44"/>
          <p:cNvSpPr txBox="1"/>
          <p:nvPr/>
        </p:nvSpPr>
        <p:spPr>
          <a:xfrm>
            <a:off x="82296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100" b="1" dirty="0">
                <a:solidFill>
                  <a:schemeClr val="tx1"/>
                </a:solidFill>
              </a:rPr>
              <a:t>AI 照顧與復能資料庫</a:t>
            </a:r>
            <a:endParaRPr lang="zh-TW" altLang="en-US" sz="2100" dirty="0"/>
          </a:p>
        </p:txBody>
      </p:sp>
      <p:sp>
        <p:nvSpPr>
          <p:cNvPr id="8" name="text-45"/>
          <p:cNvSpPr txBox="1"/>
          <p:nvPr/>
        </p:nvSpPr>
        <p:spPr>
          <a:xfrm>
            <a:off x="822960" y="4800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照顧與復能重點，一個搜尋框即時查。</a:t>
            </a:r>
            <a:endParaRPr lang="zh-TW" altLang="en-US" sz="1400" dirty="0"/>
          </a:p>
        </p:txBody>
      </p:sp>
      <p:sp>
        <p:nvSpPr>
          <p:cNvPr id="9" name="text-46"/>
          <p:cNvSpPr txBox="1"/>
          <p:nvPr/>
        </p:nvSpPr>
        <p:spPr>
          <a:xfrm>
            <a:off x="822960" y="5577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照顧 36 則＋復能 22 則　↗</a:t>
            </a:r>
            <a:endParaRPr lang="zh-TW" altLang="en-US" sz="1400" dirty="0"/>
          </a:p>
        </p:txBody>
      </p:sp>
      <p:pic>
        <p:nvPicPr>
          <p:cNvPr id="10" name="link-47" descr="開啟 AI 照顧與復能資料庫">
            <a:hlinkClick r:id="rId3" tooltip="開啟 AI 照顧與復能資料庫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3529584" cy="4389120"/>
          </a:xfrm>
          <a:prstGeom prst="rect">
            <a:avLst/>
          </a:prstGeom>
        </p:spPr>
      </p:pic>
      <p:sp>
        <p:nvSpPr>
          <p:cNvPr id="11" name="card-48"/>
          <p:cNvSpPr/>
          <p:nvPr/>
        </p:nvSpPr>
        <p:spPr>
          <a:xfrm>
            <a:off x="4315968" y="1783080"/>
            <a:ext cx="3529584" cy="4389120"/>
          </a:xfrm>
          <a:prstGeom prst="roundRect">
            <a:avLst>
              <a:gd name="adj" fmla="val 3627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pic>
        <p:nvPicPr>
          <p:cNvPr id="12" name="thumb-49" descr="輔具資料庫導覽 畫面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70832" y="1837944"/>
            <a:ext cx="3419856" cy="2011680"/>
          </a:xfrm>
          <a:prstGeom prst="rect">
            <a:avLst/>
          </a:prstGeom>
        </p:spPr>
      </p:pic>
      <p:sp>
        <p:nvSpPr>
          <p:cNvPr id="13" name="text-50"/>
          <p:cNvSpPr txBox="1"/>
          <p:nvPr/>
        </p:nvSpPr>
        <p:spPr>
          <a:xfrm>
            <a:off x="4590288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spc="200" kern="0" dirty="0">
                <a:solidFill>
                  <a:schemeClr val="accent2"/>
                </a:solidFill>
              </a:rPr>
              <a:t>TOOL 2</a:t>
            </a:r>
            <a:endParaRPr lang="zh-TW" altLang="en-US" sz="1300" dirty="0"/>
          </a:p>
        </p:txBody>
      </p:sp>
      <p:sp>
        <p:nvSpPr>
          <p:cNvPr id="14" name="text-51"/>
          <p:cNvSpPr txBox="1"/>
          <p:nvPr/>
        </p:nvSpPr>
        <p:spPr>
          <a:xfrm>
            <a:off x="4590288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100" b="1" dirty="0">
                <a:solidFill>
                  <a:schemeClr val="tx1"/>
                </a:solidFill>
              </a:rPr>
              <a:t>輔具資料庫導覽</a:t>
            </a:r>
            <a:endParaRPr lang="zh-TW" altLang="en-US" sz="2100" dirty="0"/>
          </a:p>
        </p:txBody>
      </p:sp>
      <p:sp>
        <p:nvSpPr>
          <p:cNvPr id="15" name="text-52"/>
          <p:cNvSpPr txBox="1"/>
          <p:nvPr/>
        </p:nvSpPr>
        <p:spPr>
          <a:xfrm>
            <a:off x="4590288" y="4800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生活輔具的應用適配，連結補助查詢。</a:t>
            </a:r>
            <a:endParaRPr lang="zh-TW" altLang="en-US" sz="1400" dirty="0"/>
          </a:p>
        </p:txBody>
      </p:sp>
      <p:sp>
        <p:nvSpPr>
          <p:cNvPr id="16" name="text-53"/>
          <p:cNvSpPr txBox="1"/>
          <p:nvPr/>
        </p:nvSpPr>
        <p:spPr>
          <a:xfrm>
            <a:off x="4590288" y="5577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109 項輔具・食衣住行樂　↗</a:t>
            </a:r>
            <a:endParaRPr lang="zh-TW" altLang="en-US" sz="1400" dirty="0"/>
          </a:p>
        </p:txBody>
      </p:sp>
      <p:pic>
        <p:nvPicPr>
          <p:cNvPr id="17" name="link-54" descr="開啟 輔具資料庫導覽">
            <a:hlinkClick r:id="rId6" tooltip="開啟 輔具資料庫導覽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1783080"/>
            <a:ext cx="3529584" cy="4389120"/>
          </a:xfrm>
          <a:prstGeom prst="rect">
            <a:avLst/>
          </a:prstGeom>
        </p:spPr>
      </p:pic>
      <p:sp>
        <p:nvSpPr>
          <p:cNvPr id="18" name="card-55"/>
          <p:cNvSpPr/>
          <p:nvPr/>
        </p:nvSpPr>
        <p:spPr>
          <a:xfrm>
            <a:off x="8083296" y="1783080"/>
            <a:ext cx="3529584" cy="4389120"/>
          </a:xfrm>
          <a:prstGeom prst="roundRect">
            <a:avLst>
              <a:gd name="adj" fmla="val 3627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pic>
        <p:nvPicPr>
          <p:cNvPr id="19" name="thumb-56" descr="快速問題處理網頁 畫面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38160" y="1837944"/>
            <a:ext cx="3419856" cy="2011680"/>
          </a:xfrm>
          <a:prstGeom prst="rect">
            <a:avLst/>
          </a:prstGeom>
        </p:spPr>
      </p:pic>
      <p:sp>
        <p:nvSpPr>
          <p:cNvPr id="20" name="text-57"/>
          <p:cNvSpPr txBox="1"/>
          <p:nvPr/>
        </p:nvSpPr>
        <p:spPr>
          <a:xfrm>
            <a:off x="8357616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spc="200" kern="0" dirty="0">
                <a:solidFill>
                  <a:schemeClr val="accent3"/>
                </a:solidFill>
              </a:rPr>
              <a:t>TOOL 3</a:t>
            </a:r>
            <a:endParaRPr lang="zh-TW" altLang="en-US" sz="1300" dirty="0"/>
          </a:p>
        </p:txBody>
      </p:sp>
      <p:sp>
        <p:nvSpPr>
          <p:cNvPr id="21" name="text-58"/>
          <p:cNvSpPr txBox="1"/>
          <p:nvPr/>
        </p:nvSpPr>
        <p:spPr>
          <a:xfrm>
            <a:off x="8357616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100" b="1" dirty="0">
                <a:solidFill>
                  <a:schemeClr val="tx1"/>
                </a:solidFill>
              </a:rPr>
              <a:t>快速問題處理網頁</a:t>
            </a:r>
            <a:endParaRPr lang="zh-TW" altLang="en-US" sz="2100" dirty="0"/>
          </a:p>
        </p:txBody>
      </p:sp>
      <p:sp>
        <p:nvSpPr>
          <p:cNvPr id="22" name="text-59"/>
          <p:cNvSpPr txBox="1"/>
          <p:nvPr/>
        </p:nvSpPr>
        <p:spPr>
          <a:xfrm>
            <a:off x="8357616" y="4800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異常事件的處理步驟與注意事項。</a:t>
            </a:r>
            <a:endParaRPr lang="zh-TW" altLang="en-US" sz="1400" dirty="0"/>
          </a:p>
        </p:txBody>
      </p:sp>
      <p:sp>
        <p:nvSpPr>
          <p:cNvPr id="23" name="text-60"/>
          <p:cNvSpPr txBox="1"/>
          <p:nvPr/>
        </p:nvSpPr>
        <p:spPr>
          <a:xfrm>
            <a:off x="8357616" y="5577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異常事件 29 則＋六步驟　↗</a:t>
            </a:r>
            <a:endParaRPr lang="zh-TW" altLang="en-US" sz="1400" dirty="0"/>
          </a:p>
        </p:txBody>
      </p:sp>
      <p:pic>
        <p:nvPicPr>
          <p:cNvPr id="24" name="link-61" descr="開啟 快速問題處理網頁">
            <a:hlinkClick r:id="rId9" tooltip="開啟 快速問題處理網頁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3296" y="1783080"/>
            <a:ext cx="3529584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TOOL 1　AI 照顧與復能資料庫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照顧和復能，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accent1"/>
                </a:solidFill>
              </a:rPr>
              <a:t>一個搜尋框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查完</a:t>
            </a:r>
            <a:endParaRPr lang="zh-TW" altLang="en-US" sz="3400" dirty="0"/>
          </a:p>
        </p:txBody>
      </p:sp>
      <p:sp>
        <p:nvSpPr>
          <p:cNvPr id="4" name="badge-62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搜</a:t>
            </a:r>
            <a:endParaRPr lang="zh-TW" altLang="en-US" sz="1500" dirty="0"/>
          </a:p>
        </p:txBody>
      </p:sp>
      <p:sp>
        <p:nvSpPr>
          <p:cNvPr id="5" name="text-63"/>
          <p:cNvSpPr txBox="1"/>
          <p:nvPr/>
        </p:nvSpPr>
        <p:spPr>
          <a:xfrm>
            <a:off x="1234440" y="18105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四個資料庫一次搜</a:t>
            </a:r>
            <a:endParaRPr lang="zh-TW" altLang="en-US" sz="1900" dirty="0"/>
          </a:p>
        </p:txBody>
      </p:sp>
      <p:sp>
        <p:nvSpPr>
          <p:cNvPr id="6" name="text-64"/>
          <p:cNvSpPr txBox="1"/>
          <p:nvPr/>
        </p:nvSpPr>
        <p:spPr>
          <a:xfrm>
            <a:off x="123444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照顧、復能、異常、法律一起出來</a:t>
            </a:r>
            <a:endParaRPr lang="zh-TW" altLang="en-US" sz="1300" dirty="0"/>
          </a:p>
        </p:txBody>
      </p:sp>
      <p:sp>
        <p:nvSpPr>
          <p:cNvPr id="7" name="badge-65"/>
          <p:cNvSpPr/>
          <p:nvPr/>
        </p:nvSpPr>
        <p:spPr>
          <a:xfrm>
            <a:off x="548640" y="2633472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卡</a:t>
            </a:r>
            <a:endParaRPr lang="zh-TW" altLang="en-US" sz="1500" dirty="0"/>
          </a:p>
        </p:txBody>
      </p:sp>
      <p:sp>
        <p:nvSpPr>
          <p:cNvPr id="8" name="text-66"/>
          <p:cNvSpPr txBox="1"/>
          <p:nvPr/>
        </p:nvSpPr>
        <p:spPr>
          <a:xfrm>
            <a:off x="1234440" y="26151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每則都是現場卡</a:t>
            </a:r>
            <a:endParaRPr lang="zh-TW" altLang="en-US" sz="1900" dirty="0"/>
          </a:p>
        </p:txBody>
      </p:sp>
      <p:sp>
        <p:nvSpPr>
          <p:cNvPr id="9" name="text-67"/>
          <p:cNvSpPr txBox="1"/>
          <p:nvPr/>
        </p:nvSpPr>
        <p:spPr>
          <a:xfrm>
            <a:off x="1234440" y="29809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做法、禁忌、通報時機、法規依據</a:t>
            </a:r>
            <a:endParaRPr lang="zh-TW" altLang="en-US" sz="1300" dirty="0"/>
          </a:p>
        </p:txBody>
      </p:sp>
      <p:sp>
        <p:nvSpPr>
          <p:cNvPr id="10" name="badge-68"/>
          <p:cNvSpPr/>
          <p:nvPr/>
        </p:nvSpPr>
        <p:spPr>
          <a:xfrm>
            <a:off x="548640" y="3438144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AI</a:t>
            </a:r>
            <a:endParaRPr lang="zh-TW" altLang="en-US" sz="1500" dirty="0"/>
          </a:p>
        </p:txBody>
      </p:sp>
      <p:sp>
        <p:nvSpPr>
          <p:cNvPr id="11" name="text-69"/>
          <p:cNvSpPr txBox="1"/>
          <p:nvPr/>
        </p:nvSpPr>
        <p:spPr>
          <a:xfrm>
            <a:off x="1234440" y="34198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附「複製 AI 提問」</a:t>
            </a:r>
            <a:endParaRPr lang="zh-TW" altLang="en-US" sz="1900" dirty="0"/>
          </a:p>
        </p:txBody>
      </p:sp>
      <p:sp>
        <p:nvSpPr>
          <p:cNvPr id="12" name="text-70"/>
          <p:cNvSpPr txBox="1"/>
          <p:nvPr/>
        </p:nvSpPr>
        <p:spPr>
          <a:xfrm>
            <a:off x="1234440" y="37856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問法寫好了，貼到 AI 就能深問</a:t>
            </a:r>
            <a:endParaRPr lang="zh-TW" altLang="en-US" sz="1300" dirty="0"/>
          </a:p>
        </p:txBody>
      </p:sp>
      <p:sp>
        <p:nvSpPr>
          <p:cNvPr id="13" name="text-71"/>
          <p:cNvSpPr txBox="1"/>
          <p:nvPr/>
        </p:nvSpPr>
        <p:spPr>
          <a:xfrm>
            <a:off x="548640" y="43434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4000" b="1" dirty="0">
                <a:solidFill>
                  <a:schemeClr val="accent1"/>
                </a:solidFill>
              </a:rPr>
              <a:t>109</a:t>
            </a:r>
            <a:endParaRPr lang="zh-TW" altLang="en-US" sz="4000" dirty="0"/>
          </a:p>
        </p:txBody>
      </p:sp>
      <p:sp>
        <p:nvSpPr>
          <p:cNvPr id="14" name="text-72"/>
          <p:cNvSpPr txBox="1"/>
          <p:nvPr/>
        </p:nvSpPr>
        <p:spPr>
          <a:xfrm>
            <a:off x="548640" y="5029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則現場做法</a:t>
            </a:r>
            <a:endParaRPr lang="zh-TW" altLang="en-US" sz="1300" dirty="0"/>
          </a:p>
        </p:txBody>
      </p:sp>
      <p:sp>
        <p:nvSpPr>
          <p:cNvPr id="15" name="text-73"/>
          <p:cNvSpPr txBox="1"/>
          <p:nvPr/>
        </p:nvSpPr>
        <p:spPr>
          <a:xfrm>
            <a:off x="2286000" y="4343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4000" b="1" dirty="0">
                <a:solidFill>
                  <a:schemeClr val="accent1"/>
                </a:solidFill>
              </a:rPr>
              <a:t>17</a:t>
            </a:r>
            <a:endParaRPr lang="zh-TW" altLang="en-US" sz="4000" dirty="0"/>
          </a:p>
        </p:txBody>
      </p:sp>
      <p:sp>
        <p:nvSpPr>
          <p:cNvPr id="16" name="text-74"/>
          <p:cNvSpPr txBox="1"/>
          <p:nvPr/>
        </p:nvSpPr>
        <p:spPr>
          <a:xfrm>
            <a:off x="2286000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類照顧＋復能主題</a:t>
            </a:r>
            <a:endParaRPr lang="zh-TW" altLang="en-US" sz="1300" dirty="0"/>
          </a:p>
        </p:txBody>
      </p:sp>
      <p:sp>
        <p:nvSpPr>
          <p:cNvPr id="17" name="button-75"/>
          <p:cNvSpPr/>
          <p:nvPr/>
        </p:nvSpPr>
        <p:spPr>
          <a:xfrm>
            <a:off x="548640" y="5532120"/>
            <a:ext cx="246888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開啟資料庫 ↗</a:t>
            </a:r>
            <a:endParaRPr lang="zh-TW" altLang="en-US" sz="1600" dirty="0"/>
          </a:p>
        </p:txBody>
      </p:sp>
      <p:pic>
        <p:nvPicPr>
          <p:cNvPr id="18" name="link-76" descr="開啟資料庫">
            <a:hlinkClick r:id="rId2" tooltip="開啟資料庫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532120"/>
            <a:ext cx="2468880" cy="548640"/>
          </a:xfrm>
          <a:prstGeom prst="rect">
            <a:avLst/>
          </a:prstGeom>
        </p:spPr>
      </p:pic>
      <p:sp>
        <p:nvSpPr>
          <p:cNvPr id="19" name="browser-77"/>
          <p:cNvSpPr/>
          <p:nvPr/>
        </p:nvSpPr>
        <p:spPr>
          <a:xfrm>
            <a:off x="4983480" y="1783080"/>
            <a:ext cx="6656832" cy="4434840"/>
          </a:xfrm>
          <a:prstGeom prst="roundRect">
            <a:avLst>
              <a:gd name="adj" fmla="val 2062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20" name="dot-78"/>
          <p:cNvSpPr/>
          <p:nvPr/>
        </p:nvSpPr>
        <p:spPr>
          <a:xfrm>
            <a:off x="5166360" y="1901952"/>
            <a:ext cx="109728" cy="1097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1" name="dot-79"/>
          <p:cNvSpPr/>
          <p:nvPr/>
        </p:nvSpPr>
        <p:spPr>
          <a:xfrm>
            <a:off x="5349240" y="1901952"/>
            <a:ext cx="109728" cy="1097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2" name="dot-80"/>
          <p:cNvSpPr/>
          <p:nvPr/>
        </p:nvSpPr>
        <p:spPr>
          <a:xfrm>
            <a:off x="5532120" y="1901952"/>
            <a:ext cx="109728" cy="1097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3" name="text-81"/>
          <p:cNvSpPr txBox="1"/>
          <p:nvPr/>
        </p:nvSpPr>
        <p:spPr>
          <a:xfrm>
            <a:off x="5806440" y="1847088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mattsue1003.github.io/homecare-worker-handbook/</a:t>
            </a:r>
            <a:endParaRPr lang="zh-TW" altLang="en-US" sz="1000" dirty="0"/>
          </a:p>
        </p:txBody>
      </p:sp>
      <p:sp>
        <p:nvSpPr>
          <p:cNvPr id="24" name="text-82"/>
          <p:cNvSpPr txBox="1"/>
          <p:nvPr/>
        </p:nvSpPr>
        <p:spPr>
          <a:xfrm>
            <a:off x="9720072" y="18470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點畫面開啟網頁 ↗</a:t>
            </a:r>
            <a:endParaRPr lang="zh-TW" altLang="en-US" sz="1100" dirty="0"/>
          </a:p>
        </p:txBody>
      </p:sp>
      <p:pic>
        <p:nvPicPr>
          <p:cNvPr id="25" name="screenshot-83" descr="居服員專業資料庫 畫面">
            <a:hlinkClick r:id="rId4" tooltip="居服員專業資料庫"/>
      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29200" y="2148840"/>
            <a:ext cx="6565392" cy="4023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TOOL 1　復能放進日常，AI 用得安全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復能只有三個字：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accent1"/>
                </a:solidFill>
              </a:rPr>
              <a:t>不代勞</a:t>
            </a:r>
            <a:endParaRPr lang="zh-TW" altLang="en-US" sz="3400" dirty="0"/>
          </a:p>
        </p:txBody>
      </p:sp>
      <p:sp>
        <p:nvSpPr>
          <p:cNvPr id="4" name="card-84"/>
          <p:cNvSpPr/>
          <p:nvPr/>
        </p:nvSpPr>
        <p:spPr>
          <a:xfrm>
            <a:off x="548640" y="1783080"/>
            <a:ext cx="3529584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5" name="text-85"/>
          <p:cNvSpPr txBox="1"/>
          <p:nvPr/>
        </p:nvSpPr>
        <p:spPr>
          <a:xfrm>
            <a:off x="82296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600" b="1" dirty="0">
                <a:solidFill>
                  <a:schemeClr val="accent1"/>
                </a:solidFill>
              </a:rPr>
              <a:t>等一下</a:t>
            </a:r>
            <a:endParaRPr lang="zh-TW" altLang="en-US" sz="2600" dirty="0"/>
          </a:p>
        </p:txBody>
      </p:sp>
      <p:sp>
        <p:nvSpPr>
          <p:cNvPr id="6" name="text-86"/>
          <p:cNvSpPr txBox="1"/>
          <p:nvPr/>
        </p:nvSpPr>
        <p:spPr>
          <a:xfrm>
            <a:off x="82296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accent6"/>
                </a:solidFill>
              </a:rPr>
              <a:t>給他時間自己做，別急著接手。</a:t>
            </a:r>
            <a:endParaRPr lang="zh-TW" altLang="en-US" sz="1600" dirty="0"/>
          </a:p>
        </p:txBody>
      </p:sp>
      <p:sp>
        <p:nvSpPr>
          <p:cNvPr id="7" name="card-87"/>
          <p:cNvSpPr/>
          <p:nvPr/>
        </p:nvSpPr>
        <p:spPr>
          <a:xfrm>
            <a:off x="4315968" y="1783080"/>
            <a:ext cx="3529584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8" name="text-88"/>
          <p:cNvSpPr txBox="1"/>
          <p:nvPr/>
        </p:nvSpPr>
        <p:spPr>
          <a:xfrm>
            <a:off x="4590288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600" b="1" dirty="0">
                <a:solidFill>
                  <a:schemeClr val="accent1"/>
                </a:solidFill>
              </a:rPr>
              <a:t>給提示</a:t>
            </a:r>
            <a:endParaRPr lang="zh-TW" altLang="en-US" sz="2600" dirty="0"/>
          </a:p>
        </p:txBody>
      </p:sp>
      <p:sp>
        <p:nvSpPr>
          <p:cNvPr id="9" name="text-89"/>
          <p:cNvSpPr txBox="1"/>
          <p:nvPr/>
        </p:nvSpPr>
        <p:spPr>
          <a:xfrm>
            <a:off x="4590288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accent6"/>
                </a:solidFill>
              </a:rPr>
              <a:t>用口語或手勢引導下一步。</a:t>
            </a:r>
            <a:endParaRPr lang="zh-TW" altLang="en-US" sz="1600" dirty="0"/>
          </a:p>
        </p:txBody>
      </p:sp>
      <p:sp>
        <p:nvSpPr>
          <p:cNvPr id="10" name="card-90"/>
          <p:cNvSpPr/>
          <p:nvPr/>
        </p:nvSpPr>
        <p:spPr>
          <a:xfrm>
            <a:off x="8083296" y="1783080"/>
            <a:ext cx="3529584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1" name="text-91"/>
          <p:cNvSpPr txBox="1"/>
          <p:nvPr/>
        </p:nvSpPr>
        <p:spPr>
          <a:xfrm>
            <a:off x="8357616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600" b="1" dirty="0">
                <a:solidFill>
                  <a:schemeClr val="accent1"/>
                </a:solidFill>
              </a:rPr>
              <a:t>補不足</a:t>
            </a:r>
            <a:endParaRPr lang="zh-TW" altLang="en-US" sz="2600" dirty="0"/>
          </a:p>
        </p:txBody>
      </p:sp>
      <p:sp>
        <p:nvSpPr>
          <p:cNvPr id="12" name="text-92"/>
          <p:cNvSpPr txBox="1"/>
          <p:nvPr/>
        </p:nvSpPr>
        <p:spPr>
          <a:xfrm>
            <a:off x="8357616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accent6"/>
                </a:solidFill>
              </a:rPr>
              <a:t>只幫做不到的那一段。</a:t>
            </a:r>
            <a:endParaRPr lang="zh-TW" altLang="en-US" sz="1600" dirty="0"/>
          </a:p>
        </p:txBody>
      </p:sp>
      <p:sp>
        <p:nvSpPr>
          <p:cNvPr id="13" name="card-93"/>
          <p:cNvSpPr/>
          <p:nvPr/>
        </p:nvSpPr>
        <p:spPr>
          <a:xfrm>
            <a:off x="548640" y="3703320"/>
            <a:ext cx="3529584" cy="2103120"/>
          </a:xfrm>
          <a:prstGeom prst="roundRect">
            <a:avLst>
              <a:gd name="adj" fmla="val 6087"/>
            </a:avLst>
          </a:prstGeom>
          <a:solidFill>
            <a:schemeClr val="accent1">
              <a:alpha val="13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4" name="text-94"/>
          <p:cNvSpPr txBox="1"/>
          <p:nvPr/>
        </p:nvSpPr>
        <p:spPr>
          <a:xfrm>
            <a:off x="82296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AI 守則 1｜去個資</a:t>
            </a:r>
            <a:endParaRPr lang="zh-TW" altLang="en-US" sz="2000" dirty="0"/>
          </a:p>
        </p:txBody>
      </p:sp>
      <p:sp>
        <p:nvSpPr>
          <p:cNvPr id="15" name="text-95"/>
          <p:cNvSpPr txBox="1"/>
          <p:nvPr/>
        </p:nvSpPr>
        <p:spPr>
          <a:xfrm>
            <a:off x="822960" y="4480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accent6"/>
                </a:solidFill>
              </a:rPr>
              <a:t>姓名、地址、電話先拿掉，用「80 歲、中風左側無力」描述。</a:t>
            </a:r>
            <a:endParaRPr lang="zh-TW" altLang="en-US" sz="1600" dirty="0"/>
          </a:p>
        </p:txBody>
      </p:sp>
      <p:sp>
        <p:nvSpPr>
          <p:cNvPr id="16" name="card-96"/>
          <p:cNvSpPr/>
          <p:nvPr/>
        </p:nvSpPr>
        <p:spPr>
          <a:xfrm>
            <a:off x="4315968" y="3703320"/>
            <a:ext cx="3529584" cy="2103120"/>
          </a:xfrm>
          <a:prstGeom prst="roundRect">
            <a:avLst>
              <a:gd name="adj" fmla="val 6087"/>
            </a:avLst>
          </a:prstGeom>
          <a:solidFill>
            <a:schemeClr val="accent1">
              <a:alpha val="13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7" name="text-97"/>
          <p:cNvSpPr txBox="1"/>
          <p:nvPr/>
        </p:nvSpPr>
        <p:spPr>
          <a:xfrm>
            <a:off x="4590288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tx1"/>
                </a:solidFill>
              </a:rPr>
              <a:t>AI 守則 2｜是參考</a:t>
            </a:r>
            <a:endParaRPr lang="zh-TW" altLang="en-US" sz="2000" dirty="0"/>
          </a:p>
        </p:txBody>
      </p:sp>
      <p:sp>
        <p:nvSpPr>
          <p:cNvPr id="18" name="text-98"/>
          <p:cNvSpPr txBox="1"/>
          <p:nvPr/>
        </p:nvSpPr>
        <p:spPr>
          <a:xfrm>
            <a:off x="4590288" y="4480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accent6"/>
                </a:solidFill>
              </a:rPr>
              <a:t>用藥、管路、法律責任，回頭問督導、護理師、藥師或法扶。</a:t>
            </a:r>
            <a:endParaRPr lang="zh-TW" altLang="en-US" sz="1600" dirty="0"/>
          </a:p>
        </p:txBody>
      </p:sp>
      <p:sp>
        <p:nvSpPr>
          <p:cNvPr id="19" name="card-99"/>
          <p:cNvSpPr/>
          <p:nvPr/>
        </p:nvSpPr>
        <p:spPr>
          <a:xfrm>
            <a:off x="8083296" y="3703320"/>
            <a:ext cx="3529584" cy="2103120"/>
          </a:xfrm>
          <a:prstGeom prst="roundRect">
            <a:avLst>
              <a:gd name="adj" fmla="val 6087"/>
            </a:avLst>
          </a:prstGeom>
          <a:solidFill>
            <a:schemeClr val="accent3">
              <a:alpha val="13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0" name="text-100"/>
          <p:cNvSpPr txBox="1"/>
          <p:nvPr/>
        </p:nvSpPr>
        <p:spPr>
          <a:xfrm>
            <a:off x="8357616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b="1" dirty="0">
                <a:solidFill>
                  <a:schemeClr val="accent3"/>
                </a:solidFill>
              </a:rPr>
              <a:t>AI 守則 3｜先 119</a:t>
            </a:r>
            <a:endParaRPr lang="zh-TW" altLang="en-US" sz="2000" dirty="0"/>
          </a:p>
        </p:txBody>
      </p:sp>
      <p:sp>
        <p:nvSpPr>
          <p:cNvPr id="21" name="text-101"/>
          <p:cNvSpPr txBox="1"/>
          <p:nvPr/>
        </p:nvSpPr>
        <p:spPr>
          <a:xfrm>
            <a:off x="8357616" y="4480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accent6"/>
                </a:solidFill>
              </a:rPr>
              <a:t>先打電話、先通報，事後才用 AI 整理紀錄。</a:t>
            </a:r>
            <a:endParaRPr lang="zh-TW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TOOL 2　輔具資料庫導覽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先看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accent2"/>
                </a:solidFill>
              </a:rPr>
              <a:t>功能與生活情境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，再找輔具</a:t>
            </a:r>
            <a:endParaRPr lang="zh-TW" altLang="en-US" sz="3400" dirty="0"/>
          </a:p>
        </p:txBody>
      </p:sp>
      <p:sp>
        <p:nvSpPr>
          <p:cNvPr id="4" name="badge-102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篩</a:t>
            </a:r>
            <a:endParaRPr lang="zh-TW" altLang="en-US" sz="1500" dirty="0"/>
          </a:p>
        </p:txBody>
      </p:sp>
      <p:sp>
        <p:nvSpPr>
          <p:cNvPr id="5" name="text-103"/>
          <p:cNvSpPr txBox="1"/>
          <p:nvPr/>
        </p:nvSpPr>
        <p:spPr>
          <a:xfrm>
            <a:off x="1234440" y="18105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三種入口交叉篩</a:t>
            </a:r>
            <a:endParaRPr lang="zh-TW" altLang="en-US" sz="1900" dirty="0"/>
          </a:p>
        </p:txBody>
      </p:sp>
      <p:sp>
        <p:nvSpPr>
          <p:cNvPr id="6" name="text-104"/>
          <p:cNvSpPr txBox="1"/>
          <p:nvPr/>
        </p:nvSpPr>
        <p:spPr>
          <a:xfrm>
            <a:off x="123444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身體功能、GMFCS 分級、食衣住行樂</a:t>
            </a:r>
            <a:endParaRPr lang="zh-TW" altLang="en-US" sz="1300" dirty="0"/>
          </a:p>
        </p:txBody>
      </p:sp>
      <p:sp>
        <p:nvSpPr>
          <p:cNvPr id="7" name="badge-105"/>
          <p:cNvSpPr/>
          <p:nvPr/>
        </p:nvSpPr>
        <p:spPr>
          <a:xfrm>
            <a:off x="548640" y="2633472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看</a:t>
            </a:r>
            <a:endParaRPr lang="zh-TW" altLang="en-US" sz="1500" dirty="0"/>
          </a:p>
        </p:txBody>
      </p:sp>
      <p:sp>
        <p:nvSpPr>
          <p:cNvPr id="8" name="text-106"/>
          <p:cNvSpPr txBox="1"/>
          <p:nvPr/>
        </p:nvSpPr>
        <p:spPr>
          <a:xfrm>
            <a:off x="1234440" y="26151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每類都有說明卡</a:t>
            </a:r>
            <a:endParaRPr lang="zh-TW" altLang="en-US" sz="1900" dirty="0"/>
          </a:p>
        </p:txBody>
      </p:sp>
      <p:sp>
        <p:nvSpPr>
          <p:cNvPr id="9" name="text-107"/>
          <p:cNvSpPr txBox="1"/>
          <p:nvPr/>
        </p:nvSpPr>
        <p:spPr>
          <a:xfrm>
            <a:off x="1234440" y="29809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操作方式、能幫什麼、注意事項</a:t>
            </a:r>
            <a:endParaRPr lang="zh-TW" altLang="en-US" sz="1300" dirty="0"/>
          </a:p>
        </p:txBody>
      </p:sp>
      <p:sp>
        <p:nvSpPr>
          <p:cNvPr id="10" name="badge-108"/>
          <p:cNvSpPr/>
          <p:nvPr/>
        </p:nvSpPr>
        <p:spPr>
          <a:xfrm>
            <a:off x="548640" y="3438144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補</a:t>
            </a:r>
            <a:endParaRPr lang="zh-TW" altLang="en-US" sz="1500" dirty="0"/>
          </a:p>
        </p:txBody>
      </p:sp>
      <p:sp>
        <p:nvSpPr>
          <p:cNvPr id="11" name="text-109"/>
          <p:cNvSpPr txBox="1"/>
          <p:nvPr/>
        </p:nvSpPr>
        <p:spPr>
          <a:xfrm>
            <a:off x="1234440" y="34198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補助一起查</a:t>
            </a:r>
            <a:endParaRPr lang="zh-TW" altLang="en-US" sz="1900" dirty="0"/>
          </a:p>
        </p:txBody>
      </p:sp>
      <p:sp>
        <p:nvSpPr>
          <p:cNvPr id="12" name="text-110"/>
          <p:cNvSpPr txBox="1"/>
          <p:nvPr/>
        </p:nvSpPr>
        <p:spPr>
          <a:xfrm>
            <a:off x="1234440" y="37856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依身分別看長照與身障兩制度</a:t>
            </a:r>
            <a:endParaRPr lang="zh-TW" altLang="en-US" sz="1300" dirty="0"/>
          </a:p>
        </p:txBody>
      </p:sp>
      <p:sp>
        <p:nvSpPr>
          <p:cNvPr id="13" name="button-111"/>
          <p:cNvSpPr/>
          <p:nvPr/>
        </p:nvSpPr>
        <p:spPr>
          <a:xfrm>
            <a:off x="548640" y="4343400"/>
            <a:ext cx="205740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輔具資料庫 ↗</a:t>
            </a:r>
            <a:endParaRPr lang="zh-TW" altLang="en-US" sz="1600" dirty="0"/>
          </a:p>
        </p:txBody>
      </p:sp>
      <p:pic>
        <p:nvPicPr>
          <p:cNvPr id="14" name="link-112" descr="輔具資料庫">
            <a:hlinkClick r:id="rId2" tooltip="輔具資料庫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43400"/>
            <a:ext cx="2057400" cy="548640"/>
          </a:xfrm>
          <a:prstGeom prst="rect">
            <a:avLst/>
          </a:prstGeom>
        </p:spPr>
      </p:pic>
      <p:sp>
        <p:nvSpPr>
          <p:cNvPr id="15" name="button-113"/>
          <p:cNvSpPr/>
          <p:nvPr/>
        </p:nvSpPr>
        <p:spPr>
          <a:xfrm>
            <a:off x="2724912" y="4343400"/>
            <a:ext cx="1938528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補助查詢 ↗</a:t>
            </a:r>
            <a:endParaRPr lang="zh-TW" altLang="en-US" sz="1600" dirty="0"/>
          </a:p>
        </p:txBody>
      </p:sp>
      <p:pic>
        <p:nvPicPr>
          <p:cNvPr id="16" name="link-114" descr="補助查詢">
            <a:hlinkClick r:id="rId4" tooltip="補助查詢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4343400"/>
            <a:ext cx="1938528" cy="548640"/>
          </a:xfrm>
          <a:prstGeom prst="rect">
            <a:avLst/>
          </a:prstGeom>
        </p:spPr>
      </p:pic>
      <p:sp>
        <p:nvSpPr>
          <p:cNvPr id="17" name="text-115"/>
          <p:cNvSpPr txBox="1"/>
          <p:nvPr/>
        </p:nvSpPr>
        <p:spPr>
          <a:xfrm>
            <a:off x="548640" y="51206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補助資料依身障輔具補助基準表（242 項）與長照給付辦法附表（115/7/1 施行）整理，以主管機關最新公告為準。</a:t>
            </a:r>
            <a:endParaRPr lang="zh-TW" altLang="en-US" sz="1200" dirty="0"/>
          </a:p>
        </p:txBody>
      </p:sp>
      <p:sp>
        <p:nvSpPr>
          <p:cNvPr id="18" name="browser-116"/>
          <p:cNvSpPr/>
          <p:nvPr/>
        </p:nvSpPr>
        <p:spPr>
          <a:xfrm>
            <a:off x="4983480" y="1783080"/>
            <a:ext cx="6656832" cy="4434840"/>
          </a:xfrm>
          <a:prstGeom prst="roundRect">
            <a:avLst>
              <a:gd name="adj" fmla="val 2062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9" name="dot-117"/>
          <p:cNvSpPr/>
          <p:nvPr/>
        </p:nvSpPr>
        <p:spPr>
          <a:xfrm>
            <a:off x="5166360" y="1901952"/>
            <a:ext cx="109728" cy="1097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0" name="dot-118"/>
          <p:cNvSpPr/>
          <p:nvPr/>
        </p:nvSpPr>
        <p:spPr>
          <a:xfrm>
            <a:off x="5349240" y="1901952"/>
            <a:ext cx="109728" cy="1097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1" name="dot-119"/>
          <p:cNvSpPr/>
          <p:nvPr/>
        </p:nvSpPr>
        <p:spPr>
          <a:xfrm>
            <a:off x="5532120" y="1901952"/>
            <a:ext cx="109728" cy="1097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2" name="text-120"/>
          <p:cNvSpPr txBox="1"/>
          <p:nvPr/>
        </p:nvSpPr>
        <p:spPr>
          <a:xfrm>
            <a:off x="5806440" y="1847088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mattsue1003.github.io/long-term-care-assistive-devices-database/</a:t>
            </a:r>
            <a:endParaRPr lang="zh-TW" altLang="en-US" sz="1000" dirty="0"/>
          </a:p>
        </p:txBody>
      </p:sp>
      <p:sp>
        <p:nvSpPr>
          <p:cNvPr id="23" name="text-121"/>
          <p:cNvSpPr txBox="1"/>
          <p:nvPr/>
        </p:nvSpPr>
        <p:spPr>
          <a:xfrm>
            <a:off x="9720072" y="18470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點畫面開啟網頁 ↗</a:t>
            </a:r>
            <a:endParaRPr lang="zh-TW" altLang="en-US" sz="1100" dirty="0"/>
          </a:p>
        </p:txBody>
      </p:sp>
      <p:pic>
        <p:nvPicPr>
          <p:cNvPr id="24" name="screenshot-122" descr="長照輔具資料庫 畫面">
            <a:hlinkClick r:id="rId6" tooltip="長照輔具資料庫"/>
      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9200" y="2148840"/>
            <a:ext cx="6565392" cy="4023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TOOL 3　快速問題處理網頁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任何異常，先做這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accent3"/>
                </a:solidFill>
              </a:rPr>
              <a:t>六步</a:t>
            </a:r>
            <a:endParaRPr lang="zh-TW" altLang="en-US" sz="3400" dirty="0"/>
          </a:p>
        </p:txBody>
      </p:sp>
      <p:sp>
        <p:nvSpPr>
          <p:cNvPr id="4" name="card-123"/>
          <p:cNvSpPr/>
          <p:nvPr/>
        </p:nvSpPr>
        <p:spPr>
          <a:xfrm>
            <a:off x="548640" y="1783080"/>
            <a:ext cx="41148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5" name="text-124"/>
          <p:cNvSpPr txBox="1"/>
          <p:nvPr/>
        </p:nvSpPr>
        <p:spPr>
          <a:xfrm>
            <a:off x="685800" y="178308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zh-TW" altLang="en-US" sz="2200" dirty="0"/>
          </a:p>
        </p:txBody>
      </p:sp>
      <p:sp>
        <p:nvSpPr>
          <p:cNvPr id="6" name="text-125"/>
          <p:cNvSpPr txBox="1"/>
          <p:nvPr/>
        </p:nvSpPr>
        <p:spPr>
          <a:xfrm>
            <a:off x="1234440" y="178308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安全</a:t>
            </a:r>
            <a:endParaRPr lang="zh-TW" altLang="en-US" sz="1900" dirty="0"/>
          </a:p>
        </p:txBody>
      </p:sp>
      <p:sp>
        <p:nvSpPr>
          <p:cNvPr id="7" name="text-126"/>
          <p:cNvSpPr txBox="1"/>
          <p:nvPr/>
        </p:nvSpPr>
        <p:spPr>
          <a:xfrm>
            <a:off x="2103120" y="17830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先顧自己與案主</a:t>
            </a:r>
            <a:endParaRPr lang="zh-TW" altLang="en-US" sz="1300" dirty="0"/>
          </a:p>
        </p:txBody>
      </p:sp>
      <p:sp>
        <p:nvSpPr>
          <p:cNvPr id="8" name="card-127"/>
          <p:cNvSpPr/>
          <p:nvPr/>
        </p:nvSpPr>
        <p:spPr>
          <a:xfrm>
            <a:off x="548640" y="2514600"/>
            <a:ext cx="41148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9" name="text-128"/>
          <p:cNvSpPr txBox="1"/>
          <p:nvPr/>
        </p:nvSpPr>
        <p:spPr>
          <a:xfrm>
            <a:off x="685800" y="251460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zh-TW" altLang="en-US" sz="2200" dirty="0"/>
          </a:p>
        </p:txBody>
      </p:sp>
      <p:sp>
        <p:nvSpPr>
          <p:cNvPr id="10" name="text-129"/>
          <p:cNvSpPr txBox="1"/>
          <p:nvPr/>
        </p:nvSpPr>
        <p:spPr>
          <a:xfrm>
            <a:off x="1234440" y="251460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處置</a:t>
            </a:r>
            <a:endParaRPr lang="zh-TW" altLang="en-US" sz="1900" dirty="0"/>
          </a:p>
        </p:txBody>
      </p:sp>
      <p:sp>
        <p:nvSpPr>
          <p:cNvPr id="11" name="text-130"/>
          <p:cNvSpPr txBox="1"/>
          <p:nvPr/>
        </p:nvSpPr>
        <p:spPr>
          <a:xfrm>
            <a:off x="2103120" y="25146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有生命危險直接 119</a:t>
            </a:r>
            <a:endParaRPr lang="zh-TW" altLang="en-US" sz="1300" dirty="0"/>
          </a:p>
        </p:txBody>
      </p:sp>
      <p:sp>
        <p:nvSpPr>
          <p:cNvPr id="12" name="card-131"/>
          <p:cNvSpPr/>
          <p:nvPr/>
        </p:nvSpPr>
        <p:spPr>
          <a:xfrm>
            <a:off x="548640" y="3246120"/>
            <a:ext cx="41148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3" name="text-132"/>
          <p:cNvSpPr txBox="1"/>
          <p:nvPr/>
        </p:nvSpPr>
        <p:spPr>
          <a:xfrm>
            <a:off x="685800" y="32461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zh-TW" altLang="en-US" sz="2200" dirty="0"/>
          </a:p>
        </p:txBody>
      </p:sp>
      <p:sp>
        <p:nvSpPr>
          <p:cNvPr id="14" name="text-133"/>
          <p:cNvSpPr txBox="1"/>
          <p:nvPr/>
        </p:nvSpPr>
        <p:spPr>
          <a:xfrm>
            <a:off x="1234440" y="324612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通報</a:t>
            </a:r>
            <a:endParaRPr lang="zh-TW" altLang="en-US" sz="1900" dirty="0"/>
          </a:p>
        </p:txBody>
      </p:sp>
      <p:sp>
        <p:nvSpPr>
          <p:cNvPr id="15" name="text-134"/>
          <p:cNvSpPr txBox="1"/>
          <p:nvPr/>
        </p:nvSpPr>
        <p:spPr>
          <a:xfrm>
            <a:off x="2103120" y="32461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打電話給督導，不只傳訊息</a:t>
            </a:r>
            <a:endParaRPr lang="zh-TW" altLang="en-US" sz="1300" dirty="0"/>
          </a:p>
        </p:txBody>
      </p:sp>
      <p:sp>
        <p:nvSpPr>
          <p:cNvPr id="16" name="card-135"/>
          <p:cNvSpPr/>
          <p:nvPr/>
        </p:nvSpPr>
        <p:spPr>
          <a:xfrm>
            <a:off x="548640" y="3977640"/>
            <a:ext cx="41148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7" name="text-136"/>
          <p:cNvSpPr txBox="1"/>
          <p:nvPr/>
        </p:nvSpPr>
        <p:spPr>
          <a:xfrm>
            <a:off x="685800" y="397764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zh-TW" altLang="en-US" sz="2200" dirty="0"/>
          </a:p>
        </p:txBody>
      </p:sp>
      <p:sp>
        <p:nvSpPr>
          <p:cNvPr id="18" name="text-137"/>
          <p:cNvSpPr txBox="1"/>
          <p:nvPr/>
        </p:nvSpPr>
        <p:spPr>
          <a:xfrm>
            <a:off x="1234440" y="397764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記錄</a:t>
            </a:r>
            <a:endParaRPr lang="zh-TW" altLang="en-US" sz="1900" dirty="0"/>
          </a:p>
        </p:txBody>
      </p:sp>
      <p:sp>
        <p:nvSpPr>
          <p:cNvPr id="19" name="text-138"/>
          <p:cNvSpPr txBox="1"/>
          <p:nvPr/>
        </p:nvSpPr>
        <p:spPr>
          <a:xfrm>
            <a:off x="2103120" y="39776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離開前完成，5W1H 只寫事實</a:t>
            </a:r>
            <a:endParaRPr lang="zh-TW" altLang="en-US" sz="1300" dirty="0"/>
          </a:p>
        </p:txBody>
      </p:sp>
      <p:sp>
        <p:nvSpPr>
          <p:cNvPr id="20" name="card-139"/>
          <p:cNvSpPr/>
          <p:nvPr/>
        </p:nvSpPr>
        <p:spPr>
          <a:xfrm>
            <a:off x="548640" y="4709160"/>
            <a:ext cx="41148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21" name="text-140"/>
          <p:cNvSpPr txBox="1"/>
          <p:nvPr/>
        </p:nvSpPr>
        <p:spPr>
          <a:xfrm>
            <a:off x="685800" y="470916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zh-TW" altLang="en-US" sz="2200" dirty="0"/>
          </a:p>
        </p:txBody>
      </p:sp>
      <p:sp>
        <p:nvSpPr>
          <p:cNvPr id="22" name="text-141"/>
          <p:cNvSpPr txBox="1"/>
          <p:nvPr/>
        </p:nvSpPr>
        <p:spPr>
          <a:xfrm>
            <a:off x="1234440" y="470916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交接</a:t>
            </a:r>
            <a:endParaRPr lang="zh-TW" altLang="en-US" sz="1900" dirty="0"/>
          </a:p>
        </p:txBody>
      </p:sp>
      <p:sp>
        <p:nvSpPr>
          <p:cNvPr id="23" name="text-142"/>
          <p:cNvSpPr txBox="1"/>
          <p:nvPr/>
        </p:nvSpPr>
        <p:spPr>
          <a:xfrm>
            <a:off x="2103120" y="47091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交代需要繼續觀察的事</a:t>
            </a:r>
            <a:endParaRPr lang="zh-TW" altLang="en-US" sz="1300" dirty="0"/>
          </a:p>
        </p:txBody>
      </p:sp>
      <p:sp>
        <p:nvSpPr>
          <p:cNvPr id="24" name="card-143"/>
          <p:cNvSpPr/>
          <p:nvPr/>
        </p:nvSpPr>
        <p:spPr>
          <a:xfrm>
            <a:off x="548640" y="5440680"/>
            <a:ext cx="41148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25" name="text-144"/>
          <p:cNvSpPr txBox="1"/>
          <p:nvPr/>
        </p:nvSpPr>
        <p:spPr>
          <a:xfrm>
            <a:off x="685800" y="544068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zh-TW" altLang="en-US" sz="2200" dirty="0"/>
          </a:p>
        </p:txBody>
      </p:sp>
      <p:sp>
        <p:nvSpPr>
          <p:cNvPr id="26" name="text-145"/>
          <p:cNvSpPr txBox="1"/>
          <p:nvPr/>
        </p:nvSpPr>
        <p:spPr>
          <a:xfrm>
            <a:off x="1234440" y="544068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tx1"/>
                </a:solidFill>
              </a:rPr>
              <a:t>檢討</a:t>
            </a:r>
            <a:endParaRPr lang="zh-TW" altLang="en-US" sz="1900" dirty="0"/>
          </a:p>
        </p:txBody>
      </p:sp>
      <p:sp>
        <p:nvSpPr>
          <p:cNvPr id="27" name="text-146"/>
          <p:cNvSpPr txBox="1"/>
          <p:nvPr/>
        </p:nvSpPr>
        <p:spPr>
          <a:xfrm>
            <a:off x="2103120" y="54406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依單位時限填通報單</a:t>
            </a:r>
            <a:endParaRPr lang="zh-TW" altLang="en-US" sz="1300" dirty="0"/>
          </a:p>
        </p:txBody>
      </p:sp>
      <p:sp>
        <p:nvSpPr>
          <p:cNvPr id="28" name="browser-147"/>
          <p:cNvSpPr/>
          <p:nvPr/>
        </p:nvSpPr>
        <p:spPr>
          <a:xfrm>
            <a:off x="4983480" y="1783080"/>
            <a:ext cx="6656832" cy="4434840"/>
          </a:xfrm>
          <a:prstGeom prst="roundRect">
            <a:avLst>
              <a:gd name="adj" fmla="val 2062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29" name="dot-148"/>
          <p:cNvSpPr/>
          <p:nvPr/>
        </p:nvSpPr>
        <p:spPr>
          <a:xfrm>
            <a:off x="5166360" y="1901952"/>
            <a:ext cx="109728" cy="1097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30" name="dot-149"/>
          <p:cNvSpPr/>
          <p:nvPr/>
        </p:nvSpPr>
        <p:spPr>
          <a:xfrm>
            <a:off x="5349240" y="1901952"/>
            <a:ext cx="109728" cy="1097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31" name="dot-150"/>
          <p:cNvSpPr/>
          <p:nvPr/>
        </p:nvSpPr>
        <p:spPr>
          <a:xfrm>
            <a:off x="5532120" y="1901952"/>
            <a:ext cx="109728" cy="1097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32" name="text-151"/>
          <p:cNvSpPr txBox="1"/>
          <p:nvPr/>
        </p:nvSpPr>
        <p:spPr>
          <a:xfrm>
            <a:off x="5806440" y="1847088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mattsue1003.github.io/homecare-worker-handbook/</a:t>
            </a:r>
            <a:endParaRPr lang="zh-TW" altLang="en-US" sz="1000" dirty="0"/>
          </a:p>
        </p:txBody>
      </p:sp>
      <p:sp>
        <p:nvSpPr>
          <p:cNvPr id="33" name="text-152"/>
          <p:cNvSpPr txBox="1"/>
          <p:nvPr/>
        </p:nvSpPr>
        <p:spPr>
          <a:xfrm>
            <a:off x="9720072" y="18470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點畫面開啟網頁 ↗</a:t>
            </a:r>
            <a:endParaRPr lang="zh-TW" altLang="en-US" sz="1100" dirty="0"/>
          </a:p>
        </p:txBody>
      </p:sp>
      <p:pic>
        <p:nvPicPr>
          <p:cNvPr id="34" name="screenshot-153" descr="異常事件處理網頁資料庫 畫面">
            <a:hlinkClick r:id="rId2" tooltip="異常事件處理網頁資料庫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2148840"/>
            <a:ext cx="6565392" cy="4023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TOOL 3　快問快答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現場三秒鐘，你會怎麼做？</a:t>
            </a:r>
            <a:endParaRPr lang="zh-TW" altLang="en-US" sz="3400" dirty="0"/>
          </a:p>
        </p:txBody>
      </p:sp>
      <p:sp>
        <p:nvSpPr>
          <p:cNvPr id="4" name="card-154"/>
          <p:cNvSpPr/>
          <p:nvPr/>
        </p:nvSpPr>
        <p:spPr>
          <a:xfrm>
            <a:off x="548640" y="1783080"/>
            <a:ext cx="54223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5" name="text-155"/>
          <p:cNvSpPr txBox="1"/>
          <p:nvPr/>
        </p:nvSpPr>
        <p:spPr>
          <a:xfrm>
            <a:off x="86868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spc="100" kern="0" dirty="0">
                <a:solidFill>
                  <a:schemeClr val="accent6"/>
                </a:solidFill>
              </a:rPr>
              <a:t>Q1　跌倒與外傷</a:t>
            </a:r>
            <a:endParaRPr lang="zh-TW" altLang="en-US" sz="1300" dirty="0"/>
          </a:p>
        </p:txBody>
      </p:sp>
      <p:sp>
        <p:nvSpPr>
          <p:cNvPr id="6" name="text-156"/>
          <p:cNvSpPr txBox="1"/>
          <p:nvPr/>
        </p:nvSpPr>
        <p:spPr>
          <a:xfrm>
            <a:off x="868680" y="2468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阿公在浴室跌倒，坐在地上。你第一個動作？</a:t>
            </a:r>
            <a:endParaRPr lang="zh-TW" altLang="en-US" sz="2200" dirty="0"/>
          </a:p>
        </p:txBody>
      </p:sp>
      <p:sp>
        <p:nvSpPr>
          <p:cNvPr id="7" name="card-157"/>
          <p:cNvSpPr/>
          <p:nvPr/>
        </p:nvSpPr>
        <p:spPr>
          <a:xfrm>
            <a:off x="6190488" y="1783080"/>
            <a:ext cx="54223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8" name="text-158"/>
          <p:cNvSpPr txBox="1"/>
          <p:nvPr/>
        </p:nvSpPr>
        <p:spPr>
          <a:xfrm>
            <a:off x="6510528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spc="100" kern="0" dirty="0">
                <a:solidFill>
                  <a:schemeClr val="accent6"/>
                </a:solidFill>
              </a:rPr>
              <a:t>Q2　急症</a:t>
            </a:r>
            <a:endParaRPr lang="zh-TW" altLang="en-US" sz="1300" dirty="0"/>
          </a:p>
        </p:txBody>
      </p:sp>
      <p:sp>
        <p:nvSpPr>
          <p:cNvPr id="9" name="text-159"/>
          <p:cNvSpPr txBox="1"/>
          <p:nvPr/>
        </p:nvSpPr>
        <p:spPr>
          <a:xfrm>
            <a:off x="6510528" y="2468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阿嬤說話突然含糊，一邊嘴角往下垂？</a:t>
            </a:r>
            <a:endParaRPr lang="zh-TW" altLang="en-US" sz="2200" dirty="0"/>
          </a:p>
        </p:txBody>
      </p:sp>
      <p:sp>
        <p:nvSpPr>
          <p:cNvPr id="10" name="card-160"/>
          <p:cNvSpPr/>
          <p:nvPr/>
        </p:nvSpPr>
        <p:spPr>
          <a:xfrm>
            <a:off x="548640" y="4023360"/>
            <a:ext cx="54223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1" name="text-161"/>
          <p:cNvSpPr txBox="1"/>
          <p:nvPr/>
        </p:nvSpPr>
        <p:spPr>
          <a:xfrm>
            <a:off x="868680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spc="100" kern="0" dirty="0">
                <a:solidFill>
                  <a:schemeClr val="accent6"/>
                </a:solidFill>
              </a:rPr>
              <a:t>Q3　管路與用藥</a:t>
            </a:r>
            <a:endParaRPr lang="zh-TW" altLang="en-US" sz="1300" dirty="0"/>
          </a:p>
        </p:txBody>
      </p:sp>
      <p:sp>
        <p:nvSpPr>
          <p:cNvPr id="12" name="text-162"/>
          <p:cNvSpPr txBox="1"/>
          <p:nvPr/>
        </p:nvSpPr>
        <p:spPr>
          <a:xfrm>
            <a:off x="868680" y="4709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鼻胃管滑出來，家屬說「推回去就好」？</a:t>
            </a:r>
            <a:endParaRPr lang="zh-TW" altLang="en-US" sz="2200" dirty="0"/>
          </a:p>
        </p:txBody>
      </p:sp>
      <p:sp>
        <p:nvSpPr>
          <p:cNvPr id="13" name="card-163"/>
          <p:cNvSpPr/>
          <p:nvPr/>
        </p:nvSpPr>
        <p:spPr>
          <a:xfrm>
            <a:off x="6190488" y="4023360"/>
            <a:ext cx="54223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4" name="text-164"/>
          <p:cNvSpPr txBox="1"/>
          <p:nvPr/>
        </p:nvSpPr>
        <p:spPr>
          <a:xfrm>
            <a:off x="6510528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spc="100" kern="0" dirty="0">
                <a:solidFill>
                  <a:schemeClr val="accent6"/>
                </a:solidFill>
              </a:rPr>
              <a:t>Q4　環境與人身</a:t>
            </a:r>
            <a:endParaRPr lang="zh-TW" altLang="en-US" sz="1300" dirty="0"/>
          </a:p>
        </p:txBody>
      </p:sp>
      <p:sp>
        <p:nvSpPr>
          <p:cNvPr id="15" name="text-165"/>
          <p:cNvSpPr txBox="1"/>
          <p:nvPr/>
        </p:nvSpPr>
        <p:spPr>
          <a:xfrm>
            <a:off x="6510528" y="4709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陪失智長輩外出，一轉身人不見了？</a:t>
            </a:r>
            <a:endParaRPr lang="zh-TW" alt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TOOL 3　快問快答：答案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答案都在異常事件資料庫裡</a:t>
            </a:r>
            <a:endParaRPr lang="zh-TW" altLang="en-US" sz="3400" dirty="0"/>
          </a:p>
        </p:txBody>
      </p:sp>
      <p:sp>
        <p:nvSpPr>
          <p:cNvPr id="4" name="card-166"/>
          <p:cNvSpPr/>
          <p:nvPr/>
        </p:nvSpPr>
        <p:spPr>
          <a:xfrm>
            <a:off x="548640" y="1783080"/>
            <a:ext cx="5422392" cy="2011680"/>
          </a:xfrm>
          <a:prstGeom prst="roundRect">
            <a:avLst>
              <a:gd name="adj" fmla="val 63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-167"/>
          <p:cNvSpPr txBox="1"/>
          <p:nvPr/>
        </p:nvSpPr>
        <p:spPr>
          <a:xfrm>
            <a:off x="86868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bg1">
                    <a:alpha val="85000"/>
                  </a:schemeClr>
                </a:solidFill>
              </a:rPr>
              <a:t>阿公在浴室跌倒，坐在地上。你第一個動作？</a:t>
            </a:r>
            <a:endParaRPr lang="zh-TW" altLang="en-US" sz="1300" dirty="0"/>
          </a:p>
        </p:txBody>
      </p:sp>
      <p:sp>
        <p:nvSpPr>
          <p:cNvPr id="6" name="text-168"/>
          <p:cNvSpPr txBox="1"/>
          <p:nvPr/>
        </p:nvSpPr>
        <p:spPr>
          <a:xfrm>
            <a:off x="868680" y="2377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400" b="1" dirty="0">
                <a:solidFill>
                  <a:schemeClr val="bg1"/>
                </a:solidFill>
              </a:rPr>
              <a:t>不要馬上扶起</a:t>
            </a:r>
            <a:endParaRPr lang="zh-TW" altLang="en-US" sz="2400" dirty="0"/>
          </a:p>
        </p:txBody>
      </p:sp>
      <p:sp>
        <p:nvSpPr>
          <p:cNvPr id="7" name="text-169"/>
          <p:cNvSpPr txBox="1"/>
          <p:nvPr/>
        </p:nvSpPr>
        <p:spPr>
          <a:xfrm>
            <a:off x="868680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先問能不能動、看變形出血、頭有沒有撞到，再決定扶起或叫 119。</a:t>
            </a:r>
            <a:endParaRPr lang="zh-TW" altLang="en-US" sz="1500" dirty="0"/>
          </a:p>
        </p:txBody>
      </p:sp>
      <p:sp>
        <p:nvSpPr>
          <p:cNvPr id="8" name="card-170"/>
          <p:cNvSpPr/>
          <p:nvPr/>
        </p:nvSpPr>
        <p:spPr>
          <a:xfrm>
            <a:off x="6190488" y="1783080"/>
            <a:ext cx="5422392" cy="2011680"/>
          </a:xfrm>
          <a:prstGeom prst="roundRect">
            <a:avLst>
              <a:gd name="adj" fmla="val 63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-171"/>
          <p:cNvSpPr txBox="1"/>
          <p:nvPr/>
        </p:nvSpPr>
        <p:spPr>
          <a:xfrm>
            <a:off x="6510528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bg1">
                    <a:alpha val="85000"/>
                  </a:schemeClr>
                </a:solidFill>
              </a:rPr>
              <a:t>阿嬤說話突然含糊，一邊嘴角往下垂？</a:t>
            </a:r>
            <a:endParaRPr lang="zh-TW" altLang="en-US" sz="1300" dirty="0"/>
          </a:p>
        </p:txBody>
      </p:sp>
      <p:sp>
        <p:nvSpPr>
          <p:cNvPr id="10" name="text-172"/>
          <p:cNvSpPr txBox="1"/>
          <p:nvPr/>
        </p:nvSpPr>
        <p:spPr>
          <a:xfrm>
            <a:off x="6510528" y="2377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400" b="1" dirty="0">
                <a:solidFill>
                  <a:schemeClr val="bg1"/>
                </a:solidFill>
              </a:rPr>
              <a:t>FAST，一項就打 119</a:t>
            </a:r>
            <a:endParaRPr lang="zh-TW" altLang="en-US" sz="2400" dirty="0"/>
          </a:p>
        </p:txBody>
      </p:sp>
      <p:sp>
        <p:nvSpPr>
          <p:cNvPr id="11" name="text-173"/>
          <p:cNvSpPr txBox="1"/>
          <p:nvPr/>
        </p:nvSpPr>
        <p:spPr>
          <a:xfrm>
            <a:off x="6510528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臉歪、手垂、說話不清任一項就打 119，記下「最後正常的時間」。</a:t>
            </a:r>
            <a:endParaRPr lang="zh-TW" altLang="en-US" sz="1500" dirty="0"/>
          </a:p>
        </p:txBody>
      </p:sp>
      <p:sp>
        <p:nvSpPr>
          <p:cNvPr id="12" name="card-174"/>
          <p:cNvSpPr/>
          <p:nvPr/>
        </p:nvSpPr>
        <p:spPr>
          <a:xfrm>
            <a:off x="548640" y="4023360"/>
            <a:ext cx="5422392" cy="2011680"/>
          </a:xfrm>
          <a:prstGeom prst="roundRect">
            <a:avLst>
              <a:gd name="adj" fmla="val 63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-175"/>
          <p:cNvSpPr txBox="1"/>
          <p:nvPr/>
        </p:nvSpPr>
        <p:spPr>
          <a:xfrm>
            <a:off x="868680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bg1">
                    <a:alpha val="85000"/>
                  </a:schemeClr>
                </a:solidFill>
              </a:rPr>
              <a:t>鼻胃管滑出來，家屬說「推回去就好」？</a:t>
            </a:r>
            <a:endParaRPr lang="zh-TW" altLang="en-US" sz="1300" dirty="0"/>
          </a:p>
        </p:txBody>
      </p:sp>
      <p:sp>
        <p:nvSpPr>
          <p:cNvPr id="14" name="text-176"/>
          <p:cNvSpPr txBox="1"/>
          <p:nvPr/>
        </p:nvSpPr>
        <p:spPr>
          <a:xfrm>
            <a:off x="868680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400" b="1" dirty="0">
                <a:solidFill>
                  <a:schemeClr val="bg1"/>
                </a:solidFill>
              </a:rPr>
              <a:t>不要自己放回去</a:t>
            </a:r>
            <a:endParaRPr lang="zh-TW" altLang="en-US" sz="2400" dirty="0"/>
          </a:p>
        </p:txBody>
      </p:sp>
      <p:sp>
        <p:nvSpPr>
          <p:cNvPr id="15" name="text-177"/>
          <p:cNvSpPr txBox="1"/>
          <p:nvPr/>
        </p:nvSpPr>
        <p:spPr>
          <a:xfrm>
            <a:off x="868680" y="5166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停止灌食、記錄外露長度，通報並安排重新置放。</a:t>
            </a:r>
            <a:endParaRPr lang="zh-TW" altLang="en-US" sz="1500" dirty="0"/>
          </a:p>
        </p:txBody>
      </p:sp>
      <p:sp>
        <p:nvSpPr>
          <p:cNvPr id="16" name="card-178"/>
          <p:cNvSpPr/>
          <p:nvPr/>
        </p:nvSpPr>
        <p:spPr>
          <a:xfrm>
            <a:off x="6190488" y="4023360"/>
            <a:ext cx="5422392" cy="2011680"/>
          </a:xfrm>
          <a:prstGeom prst="roundRect">
            <a:avLst>
              <a:gd name="adj" fmla="val 63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-179"/>
          <p:cNvSpPr txBox="1"/>
          <p:nvPr/>
        </p:nvSpPr>
        <p:spPr>
          <a:xfrm>
            <a:off x="6510528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bg1">
                    <a:alpha val="85000"/>
                  </a:schemeClr>
                </a:solidFill>
              </a:rPr>
              <a:t>陪失智長輩外出，一轉身人不見了？</a:t>
            </a:r>
            <a:endParaRPr lang="zh-TW" altLang="en-US" sz="1300" dirty="0"/>
          </a:p>
        </p:txBody>
      </p:sp>
      <p:sp>
        <p:nvSpPr>
          <p:cNvPr id="18" name="text-180"/>
          <p:cNvSpPr txBox="1"/>
          <p:nvPr/>
        </p:nvSpPr>
        <p:spPr>
          <a:xfrm>
            <a:off x="6510528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400" b="1" dirty="0">
                <a:solidFill>
                  <a:schemeClr val="bg1"/>
                </a:solidFill>
              </a:rPr>
              <a:t>找 5–10 分鐘，同時通報</a:t>
            </a:r>
            <a:endParaRPr lang="zh-TW" altLang="en-US" sz="2400" dirty="0"/>
          </a:p>
        </p:txBody>
      </p:sp>
      <p:sp>
        <p:nvSpPr>
          <p:cNvPr id="19" name="text-181"/>
          <p:cNvSpPr txBox="1"/>
          <p:nvPr/>
        </p:nvSpPr>
        <p:spPr>
          <a:xfrm>
            <a:off x="6510528" y="5166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bg1"/>
                </a:solidFill>
              </a:rPr>
              <a:t>找不到馬上報警 110，失智者不用等 24 小時。</a:t>
            </a:r>
            <a:endParaRPr lang="zh-TW" altLang="en-US" sz="1500" dirty="0"/>
          </a:p>
        </p:txBody>
      </p:sp>
      <p:sp>
        <p:nvSpPr>
          <p:cNvPr id="20" name="button-182"/>
          <p:cNvSpPr/>
          <p:nvPr/>
        </p:nvSpPr>
        <p:spPr>
          <a:xfrm>
            <a:off x="8714232" y="868680"/>
            <a:ext cx="292608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開啟異常事件資料庫 ↗</a:t>
            </a:r>
            <a:endParaRPr lang="zh-TW" altLang="en-US" sz="1600" dirty="0"/>
          </a:p>
        </p:txBody>
      </p:sp>
      <p:pic>
        <p:nvPicPr>
          <p:cNvPr id="21" name="link-183" descr="開啟異常事件資料庫">
            <a:hlinkClick r:id="rId2" tooltip="開啟異常事件資料庫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4232" y="868680"/>
            <a:ext cx="292608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TOOL 3　異常事件紀錄 × AI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紀錄要能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accent3"/>
                </a:solidFill>
              </a:rPr>
              <a:t>還原現場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：只寫事實</a:t>
            </a:r>
            <a:endParaRPr lang="zh-TW" altLang="en-US" sz="3400" dirty="0"/>
          </a:p>
        </p:txBody>
      </p:sp>
      <p:sp>
        <p:nvSpPr>
          <p:cNvPr id="4" name="card-184"/>
          <p:cNvSpPr/>
          <p:nvPr/>
        </p:nvSpPr>
        <p:spPr>
          <a:xfrm>
            <a:off x="548640" y="1783080"/>
            <a:ext cx="5422392" cy="2011680"/>
          </a:xfrm>
          <a:prstGeom prst="roundRect">
            <a:avLst>
              <a:gd name="adj" fmla="val 6364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5" name="text-185"/>
          <p:cNvSpPr txBox="1"/>
          <p:nvPr/>
        </p:nvSpPr>
        <p:spPr>
          <a:xfrm>
            <a:off x="86868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6"/>
                </a:solidFill>
              </a:rPr>
              <a:t>✕ 寫感覺、寫推測</a:t>
            </a:r>
            <a:endParaRPr lang="zh-TW" altLang="en-US" sz="1400" dirty="0"/>
          </a:p>
        </p:txBody>
      </p:sp>
      <p:sp>
        <p:nvSpPr>
          <p:cNvPr id="6" name="text-186"/>
          <p:cNvSpPr txBox="1"/>
          <p:nvPr/>
        </p:nvSpPr>
        <p:spPr>
          <a:xfrm>
            <a:off x="868680" y="2423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strike="sngStrike" dirty="0">
                <a:solidFill>
                  <a:schemeClr val="accent6"/>
                </a:solidFill>
              </a:rPr>
              <a:t>案主好像頭暈，應該是沒吃早餐，自己不小心跌倒，看起來還好。</a:t>
            </a:r>
            <a:endParaRPr lang="zh-TW" altLang="en-US" sz="1800" dirty="0"/>
          </a:p>
        </p:txBody>
      </p:sp>
      <p:sp>
        <p:nvSpPr>
          <p:cNvPr id="7" name="card-187"/>
          <p:cNvSpPr/>
          <p:nvPr/>
        </p:nvSpPr>
        <p:spPr>
          <a:xfrm>
            <a:off x="6190488" y="1783080"/>
            <a:ext cx="5449824" cy="2011680"/>
          </a:xfrm>
          <a:prstGeom prst="roundRect">
            <a:avLst>
              <a:gd name="adj" fmla="val 6364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8" name="text-188"/>
          <p:cNvSpPr txBox="1"/>
          <p:nvPr/>
        </p:nvSpPr>
        <p:spPr>
          <a:xfrm>
            <a:off x="6510528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✓ 5W1H、只寫事實</a:t>
            </a:r>
            <a:endParaRPr lang="zh-TW" altLang="en-US" sz="1400" dirty="0"/>
          </a:p>
        </p:txBody>
      </p:sp>
      <p:sp>
        <p:nvSpPr>
          <p:cNvPr id="9" name="text-189"/>
          <p:cNvSpPr txBox="1"/>
          <p:nvPr/>
        </p:nvSpPr>
        <p:spPr>
          <a:xfrm>
            <a:off x="6510528" y="2423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09:40 案主於浴室門口坐地，自述「腳軟」，無出血、可自行活動四肢。09:45 電話通報督導。</a:t>
            </a:r>
            <a:endParaRPr lang="zh-TW" altLang="en-US" sz="1800" dirty="0"/>
          </a:p>
        </p:txBody>
      </p:sp>
      <p:sp>
        <p:nvSpPr>
          <p:cNvPr id="10" name="card-190"/>
          <p:cNvSpPr/>
          <p:nvPr/>
        </p:nvSpPr>
        <p:spPr>
          <a:xfrm>
            <a:off x="548640" y="4023360"/>
            <a:ext cx="11091672" cy="1828800"/>
          </a:xfrm>
          <a:prstGeom prst="roundRect">
            <a:avLst>
              <a:gd name="adj" fmla="val 7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-191"/>
          <p:cNvSpPr txBox="1"/>
          <p:nvPr/>
        </p:nvSpPr>
        <p:spPr>
          <a:xfrm>
            <a:off x="86868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b="1" spc="200" kern="0" dirty="0">
                <a:solidFill>
                  <a:schemeClr val="bg2"/>
                </a:solidFill>
              </a:rPr>
              <a:t>複製給 AI 的問法</a:t>
            </a:r>
            <a:endParaRPr lang="zh-TW" altLang="en-US" sz="1200" dirty="0"/>
          </a:p>
        </p:txBody>
      </p:sp>
      <p:sp>
        <p:nvSpPr>
          <p:cNvPr id="12" name="text-192"/>
          <p:cNvSpPr txBox="1"/>
          <p:nvPr/>
        </p:nvSpPr>
        <p:spPr>
          <a:xfrm>
            <a:off x="868680" y="4617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dirty="0">
                <a:solidFill>
                  <a:schemeClr val="bg1"/>
                </a:solidFill>
              </a:rPr>
              <a:t>請把以下</a:t>
            </a:r>
            <a:pPr indent="0" marL="0">
              <a:buNone/>
            </a:pPr>
            <a:r>
              <a:rPr lang="zh-TW" altLang="en-US" sz="2000" dirty="0">
                <a:solidFill>
                  <a:schemeClr val="tx1"/>
                </a:solidFill>
                <a:highlight>
                  <a:srgbClr val="F6D9A3"/>
                </a:highlight>
              </a:rPr>
              <a:t>已去除個資</a:t>
            </a:r>
            <a:pPr indent="0" marL="0">
              <a:buNone/>
            </a:pPr>
            <a:r>
              <a:rPr lang="zh-TW" altLang="en-US" sz="2000" dirty="0">
                <a:solidFill>
                  <a:schemeClr val="bg1"/>
                </a:solidFill>
              </a:rPr>
              <a:t>的異常事件紀錄，依 5W1H 排列，只保留事實、去掉推測與情緒字眼：（貼上內容）</a:t>
            </a:r>
            <a:endParaRPr lang="zh-TW" alt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加碼　AI 也能做活動教案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五個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accent4"/>
                </a:solidFill>
              </a:rPr>
              <a:t>明天就能帶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的互動教案（點卡片開啟）</a:t>
            </a:r>
            <a:endParaRPr lang="zh-TW" altLang="en-US" sz="3400" dirty="0"/>
          </a:p>
        </p:txBody>
      </p:sp>
      <p:sp>
        <p:nvSpPr>
          <p:cNvPr id="4" name="card-193"/>
          <p:cNvSpPr/>
          <p:nvPr/>
        </p:nvSpPr>
        <p:spPr>
          <a:xfrm>
            <a:off x="548640" y="1783080"/>
            <a:ext cx="2139696" cy="4434840"/>
          </a:xfrm>
          <a:prstGeom prst="roundRect">
            <a:avLst>
              <a:gd name="adj" fmla="val 5983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pic>
        <p:nvPicPr>
          <p:cNvPr id="5" name="lesson-thumb-194" descr="台灣好味島 畫面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828800"/>
            <a:ext cx="2048256" cy="1554480"/>
          </a:xfrm>
          <a:prstGeom prst="rect">
            <a:avLst/>
          </a:prstGeom>
        </p:spPr>
      </p:pic>
      <p:sp>
        <p:nvSpPr>
          <p:cNvPr id="6" name="text-195"/>
          <p:cNvSpPr txBox="1"/>
          <p:nvPr/>
        </p:nvSpPr>
        <p:spPr>
          <a:xfrm>
            <a:off x="731520" y="35204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3D・地理・懷舊</a:t>
            </a:r>
            <a:endParaRPr lang="zh-TW" altLang="en-US" sz="1100" dirty="0"/>
          </a:p>
        </p:txBody>
      </p:sp>
      <p:sp>
        <p:nvSpPr>
          <p:cNvPr id="7" name="text-196"/>
          <p:cNvSpPr txBox="1"/>
          <p:nvPr/>
        </p:nvSpPr>
        <p:spPr>
          <a:xfrm>
            <a:off x="731520" y="379476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台灣好味島</a:t>
            </a:r>
            <a:endParaRPr lang="zh-TW" altLang="en-US" sz="1600" dirty="0"/>
          </a:p>
        </p:txBody>
      </p:sp>
      <p:sp>
        <p:nvSpPr>
          <p:cNvPr id="8" name="text-197"/>
          <p:cNvSpPr txBox="1"/>
          <p:nvPr/>
        </p:nvSpPr>
        <p:spPr>
          <a:xfrm>
            <a:off x="731520" y="43891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22 縣市名產與景點做成 3D 小島，點一下就去旅行，還有任務闖關。</a:t>
            </a:r>
            <a:endParaRPr lang="zh-TW" altLang="en-US" sz="1200" dirty="0"/>
          </a:p>
        </p:txBody>
      </p:sp>
      <p:sp>
        <p:nvSpPr>
          <p:cNvPr id="9" name="lesson-button-198"/>
          <p:cNvSpPr/>
          <p:nvPr/>
        </p:nvSpPr>
        <p:spPr>
          <a:xfrm>
            <a:off x="731520" y="5650992"/>
            <a:ext cx="1773936" cy="41148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開啟教案 ↗</a:t>
            </a:r>
            <a:endParaRPr lang="zh-TW" altLang="en-US" sz="1300" dirty="0"/>
          </a:p>
        </p:txBody>
      </p:sp>
      <p:pic>
        <p:nvPicPr>
          <p:cNvPr id="10" name="link-199" descr="開啟 台灣好味島">
            <a:hlinkClick r:id="rId3" tooltip="開啟 台灣好味島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2139696" cy="4434840"/>
          </a:xfrm>
          <a:prstGeom prst="rect">
            <a:avLst/>
          </a:prstGeom>
        </p:spPr>
      </p:pic>
      <p:sp>
        <p:nvSpPr>
          <p:cNvPr id="11" name="card-200"/>
          <p:cNvSpPr/>
          <p:nvPr/>
        </p:nvSpPr>
        <p:spPr>
          <a:xfrm>
            <a:off x="2786177" y="1783080"/>
            <a:ext cx="2139696" cy="4434840"/>
          </a:xfrm>
          <a:prstGeom prst="roundRect">
            <a:avLst>
              <a:gd name="adj" fmla="val 5983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pic>
        <p:nvPicPr>
          <p:cNvPr id="12" name="lesson-thumb-201" descr="纏繞畫步驟示範 畫面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831897" y="1828800"/>
            <a:ext cx="2048256" cy="1554480"/>
          </a:xfrm>
          <a:prstGeom prst="rect">
            <a:avLst/>
          </a:prstGeom>
        </p:spPr>
      </p:pic>
      <p:sp>
        <p:nvSpPr>
          <p:cNvPr id="13" name="text-202"/>
          <p:cNvSpPr txBox="1"/>
          <p:nvPr/>
        </p:nvSpPr>
        <p:spPr>
          <a:xfrm>
            <a:off x="2969057" y="35204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手作・專注</a:t>
            </a:r>
            <a:endParaRPr lang="zh-TW" altLang="en-US" sz="1100" dirty="0"/>
          </a:p>
        </p:txBody>
      </p:sp>
      <p:sp>
        <p:nvSpPr>
          <p:cNvPr id="14" name="text-203"/>
          <p:cNvSpPr txBox="1"/>
          <p:nvPr/>
        </p:nvSpPr>
        <p:spPr>
          <a:xfrm>
            <a:off x="2969057" y="379476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纏繞畫步驟示範</a:t>
            </a:r>
            <a:endParaRPr lang="zh-TW" altLang="en-US" sz="1600" dirty="0"/>
          </a:p>
        </p:txBody>
      </p:sp>
      <p:sp>
        <p:nvSpPr>
          <p:cNvPr id="15" name="text-204"/>
          <p:cNvSpPr txBox="1"/>
          <p:nvPr/>
        </p:nvSpPr>
        <p:spPr>
          <a:xfrm>
            <a:off x="2969057" y="43891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跟著動畫一筆一筆畫，方形、圓形、A4 共 36 課，可下載學習單。</a:t>
            </a:r>
            <a:endParaRPr lang="zh-TW" altLang="en-US" sz="1200" dirty="0"/>
          </a:p>
        </p:txBody>
      </p:sp>
      <p:sp>
        <p:nvSpPr>
          <p:cNvPr id="16" name="lesson-button-205"/>
          <p:cNvSpPr/>
          <p:nvPr/>
        </p:nvSpPr>
        <p:spPr>
          <a:xfrm>
            <a:off x="2969057" y="5650992"/>
            <a:ext cx="1773936" cy="41148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開啟教案 ↗</a:t>
            </a:r>
            <a:endParaRPr lang="zh-TW" altLang="en-US" sz="1300" dirty="0"/>
          </a:p>
        </p:txBody>
      </p:sp>
      <p:pic>
        <p:nvPicPr>
          <p:cNvPr id="17" name="link-206" descr="開啟 纏繞畫步驟示範">
            <a:hlinkClick r:id="rId6" tooltip="開啟 纏繞畫步驟示範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177" y="1783080"/>
            <a:ext cx="2139696" cy="4434840"/>
          </a:xfrm>
          <a:prstGeom prst="rect">
            <a:avLst/>
          </a:prstGeom>
        </p:spPr>
      </p:pic>
      <p:sp>
        <p:nvSpPr>
          <p:cNvPr id="18" name="card-207"/>
          <p:cNvSpPr/>
          <p:nvPr/>
        </p:nvSpPr>
        <p:spPr>
          <a:xfrm>
            <a:off x="5023714" y="1783080"/>
            <a:ext cx="2139696" cy="4434840"/>
          </a:xfrm>
          <a:prstGeom prst="roundRect">
            <a:avLst>
              <a:gd name="adj" fmla="val 5983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pic>
        <p:nvPicPr>
          <p:cNvPr id="19" name="lesson-thumb-208" descr="日本日照團康影片庫 畫面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069434" y="1828800"/>
            <a:ext cx="2048256" cy="1554480"/>
          </a:xfrm>
          <a:prstGeom prst="rect">
            <a:avLst/>
          </a:prstGeom>
        </p:spPr>
      </p:pic>
      <p:sp>
        <p:nvSpPr>
          <p:cNvPr id="20" name="text-209"/>
          <p:cNvSpPr txBox="1"/>
          <p:nvPr/>
        </p:nvSpPr>
        <p:spPr>
          <a:xfrm>
            <a:off x="5206594" y="35204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團康・體操</a:t>
            </a:r>
            <a:endParaRPr lang="zh-TW" altLang="en-US" sz="1100" dirty="0"/>
          </a:p>
        </p:txBody>
      </p:sp>
      <p:sp>
        <p:nvSpPr>
          <p:cNvPr id="21" name="text-210"/>
          <p:cNvSpPr txBox="1"/>
          <p:nvPr/>
        </p:nvSpPr>
        <p:spPr>
          <a:xfrm>
            <a:off x="5206594" y="379476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日本日照團康影片庫</a:t>
            </a:r>
            <a:endParaRPr lang="zh-TW" altLang="en-US" sz="1600" dirty="0"/>
          </a:p>
        </p:txBody>
      </p:sp>
      <p:sp>
        <p:nvSpPr>
          <p:cNvPr id="22" name="text-211"/>
          <p:cNvSpPr txBox="1"/>
          <p:nvPr/>
        </p:nvSpPr>
        <p:spPr>
          <a:xfrm>
            <a:off x="5206594" y="43891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350 支日本日照與照顧現場影片，中文整理玩法、訓練重點與帶領提醒。</a:t>
            </a:r>
            <a:endParaRPr lang="zh-TW" altLang="en-US" sz="1200" dirty="0"/>
          </a:p>
        </p:txBody>
      </p:sp>
      <p:sp>
        <p:nvSpPr>
          <p:cNvPr id="23" name="lesson-button-212"/>
          <p:cNvSpPr/>
          <p:nvPr/>
        </p:nvSpPr>
        <p:spPr>
          <a:xfrm>
            <a:off x="5206594" y="5650992"/>
            <a:ext cx="1773936" cy="41148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開啟教案 ↗</a:t>
            </a:r>
            <a:endParaRPr lang="zh-TW" altLang="en-US" sz="1300" dirty="0"/>
          </a:p>
        </p:txBody>
      </p:sp>
      <p:pic>
        <p:nvPicPr>
          <p:cNvPr id="24" name="link-213" descr="開啟 日本日照團康影片庫">
            <a:hlinkClick r:id="rId9" tooltip="開啟 日本日照團康影片庫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3714" y="1783080"/>
            <a:ext cx="2139696" cy="4434840"/>
          </a:xfrm>
          <a:prstGeom prst="rect">
            <a:avLst/>
          </a:prstGeom>
        </p:spPr>
      </p:pic>
      <p:sp>
        <p:nvSpPr>
          <p:cNvPr id="25" name="card-214"/>
          <p:cNvSpPr/>
          <p:nvPr/>
        </p:nvSpPr>
        <p:spPr>
          <a:xfrm>
            <a:off x="7261250" y="1783080"/>
            <a:ext cx="2139696" cy="4434840"/>
          </a:xfrm>
          <a:prstGeom prst="roundRect">
            <a:avLst>
              <a:gd name="adj" fmla="val 5983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pic>
        <p:nvPicPr>
          <p:cNvPr id="26" name="lesson-thumb-215" descr="懷舊金曲猜歌 畫面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306970" y="1828800"/>
            <a:ext cx="2048256" cy="1554480"/>
          </a:xfrm>
          <a:prstGeom prst="rect">
            <a:avLst/>
          </a:prstGeom>
        </p:spPr>
      </p:pic>
      <p:sp>
        <p:nvSpPr>
          <p:cNvPr id="27" name="text-216"/>
          <p:cNvSpPr txBox="1"/>
          <p:nvPr/>
        </p:nvSpPr>
        <p:spPr>
          <a:xfrm>
            <a:off x="7444130" y="35204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懷舊・音樂</a:t>
            </a:r>
            <a:endParaRPr lang="zh-TW" altLang="en-US" sz="1100" dirty="0"/>
          </a:p>
        </p:txBody>
      </p:sp>
      <p:sp>
        <p:nvSpPr>
          <p:cNvPr id="28" name="text-217"/>
          <p:cNvSpPr txBox="1"/>
          <p:nvPr/>
        </p:nvSpPr>
        <p:spPr>
          <a:xfrm>
            <a:off x="7444130" y="379476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懷舊金曲猜歌</a:t>
            </a:r>
            <a:endParaRPr lang="zh-TW" altLang="en-US" sz="1600" dirty="0"/>
          </a:p>
        </p:txBody>
      </p:sp>
      <p:sp>
        <p:nvSpPr>
          <p:cNvPr id="29" name="text-218"/>
          <p:cNvSpPr txBox="1"/>
          <p:nvPr/>
        </p:nvSpPr>
        <p:spPr>
          <a:xfrm>
            <a:off x="7444130" y="43891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20 首金曲，開啟長輩互動的話題，適合團體一起玩。</a:t>
            </a:r>
            <a:endParaRPr lang="zh-TW" altLang="en-US" sz="1200" dirty="0"/>
          </a:p>
        </p:txBody>
      </p:sp>
      <p:sp>
        <p:nvSpPr>
          <p:cNvPr id="30" name="lesson-button-219"/>
          <p:cNvSpPr/>
          <p:nvPr/>
        </p:nvSpPr>
        <p:spPr>
          <a:xfrm>
            <a:off x="7444130" y="5650992"/>
            <a:ext cx="1773936" cy="41148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開啟教案 ↗</a:t>
            </a:r>
            <a:endParaRPr lang="zh-TW" altLang="en-US" sz="1300" dirty="0"/>
          </a:p>
        </p:txBody>
      </p:sp>
      <p:pic>
        <p:nvPicPr>
          <p:cNvPr id="31" name="link-220" descr="開啟 懷舊金曲猜歌">
            <a:hlinkClick r:id="rId12" tooltip="開啟 懷舊金曲猜歌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1250" y="1783080"/>
            <a:ext cx="2139696" cy="4434840"/>
          </a:xfrm>
          <a:prstGeom prst="rect">
            <a:avLst/>
          </a:prstGeom>
        </p:spPr>
      </p:pic>
      <p:sp>
        <p:nvSpPr>
          <p:cNvPr id="32" name="card-221"/>
          <p:cNvSpPr/>
          <p:nvPr/>
        </p:nvSpPr>
        <p:spPr>
          <a:xfrm>
            <a:off x="9498787" y="1783080"/>
            <a:ext cx="2139696" cy="4434840"/>
          </a:xfrm>
          <a:prstGeom prst="roundRect">
            <a:avLst>
              <a:gd name="adj" fmla="val 5983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pic>
        <p:nvPicPr>
          <p:cNvPr id="33" name="lesson-thumb-222" descr="老藝人猜猜看 畫面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544507" y="1828800"/>
            <a:ext cx="2048256" cy="1554480"/>
          </a:xfrm>
          <a:prstGeom prst="rect">
            <a:avLst/>
          </a:prstGeom>
        </p:spPr>
      </p:pic>
      <p:sp>
        <p:nvSpPr>
          <p:cNvPr id="34" name="text-223"/>
          <p:cNvSpPr txBox="1"/>
          <p:nvPr/>
        </p:nvSpPr>
        <p:spPr>
          <a:xfrm>
            <a:off x="9681667" y="35204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懷舊・認知</a:t>
            </a:r>
            <a:endParaRPr lang="zh-TW" altLang="en-US" sz="1100" dirty="0"/>
          </a:p>
        </p:txBody>
      </p:sp>
      <p:sp>
        <p:nvSpPr>
          <p:cNvPr id="35" name="text-224"/>
          <p:cNvSpPr txBox="1"/>
          <p:nvPr/>
        </p:nvSpPr>
        <p:spPr>
          <a:xfrm>
            <a:off x="9681667" y="379476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老藝人猜猜看</a:t>
            </a:r>
            <a:endParaRPr lang="zh-TW" altLang="en-US" sz="1600" dirty="0"/>
          </a:p>
        </p:txBody>
      </p:sp>
      <p:sp>
        <p:nvSpPr>
          <p:cNvPr id="36" name="text-225"/>
          <p:cNvSpPr txBox="1"/>
          <p:nvPr/>
        </p:nvSpPr>
        <p:spPr>
          <a:xfrm>
            <a:off x="9681667" y="43891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30 位藝人照片，喚起共同的年代記憶。</a:t>
            </a:r>
            <a:endParaRPr lang="zh-TW" altLang="en-US" sz="1200" dirty="0"/>
          </a:p>
        </p:txBody>
      </p:sp>
      <p:sp>
        <p:nvSpPr>
          <p:cNvPr id="37" name="lesson-button-226"/>
          <p:cNvSpPr/>
          <p:nvPr/>
        </p:nvSpPr>
        <p:spPr>
          <a:xfrm>
            <a:off x="9681667" y="5650992"/>
            <a:ext cx="1773936" cy="41148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開啟教案 ↗</a:t>
            </a:r>
            <a:endParaRPr lang="zh-TW" altLang="en-US" sz="1300" dirty="0"/>
          </a:p>
        </p:txBody>
      </p:sp>
      <p:pic>
        <p:nvPicPr>
          <p:cNvPr id="38" name="link-227" descr="開啟 老藝人猜猜看">
            <a:hlinkClick r:id="rId15" tooltip="開啟 老藝人猜猜看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98787" y="1783080"/>
            <a:ext cx="2139696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這些網頁怎麼做出來的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AI 負責整理，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accent1"/>
                </a:solidFill>
              </a:rPr>
              <a:t>專業負責把關</a:t>
            </a:r>
            <a:endParaRPr lang="zh-TW" altLang="en-US" sz="3400" dirty="0"/>
          </a:p>
        </p:txBody>
      </p:sp>
      <p:sp>
        <p:nvSpPr>
          <p:cNvPr id="4" name="card-228"/>
          <p:cNvSpPr/>
          <p:nvPr/>
        </p:nvSpPr>
        <p:spPr>
          <a:xfrm>
            <a:off x="548640" y="1783080"/>
            <a:ext cx="1755648" cy="1783080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5" name="step-no-229"/>
          <p:cNvSpPr/>
          <p:nvPr/>
        </p:nvSpPr>
        <p:spPr>
          <a:xfrm>
            <a:off x="749808" y="19659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zh-TW" altLang="en-US" sz="1500" dirty="0"/>
          </a:p>
        </p:txBody>
      </p:sp>
      <p:sp>
        <p:nvSpPr>
          <p:cNvPr id="6" name="text-230"/>
          <p:cNvSpPr txBox="1"/>
          <p:nvPr/>
        </p:nvSpPr>
        <p:spPr>
          <a:xfrm>
            <a:off x="749808" y="25603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收集現場最常被問的問題</a:t>
            </a:r>
            <a:endParaRPr lang="zh-TW" altLang="en-US" sz="1500" dirty="0"/>
          </a:p>
        </p:txBody>
      </p:sp>
      <p:sp>
        <p:nvSpPr>
          <p:cNvPr id="7" name="card-231"/>
          <p:cNvSpPr/>
          <p:nvPr/>
        </p:nvSpPr>
        <p:spPr>
          <a:xfrm>
            <a:off x="2415845" y="1783080"/>
            <a:ext cx="1755648" cy="1783080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8" name="step-no-232"/>
          <p:cNvSpPr/>
          <p:nvPr/>
        </p:nvSpPr>
        <p:spPr>
          <a:xfrm>
            <a:off x="2617013" y="19659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zh-TW" altLang="en-US" sz="1500" dirty="0"/>
          </a:p>
        </p:txBody>
      </p:sp>
      <p:sp>
        <p:nvSpPr>
          <p:cNvPr id="9" name="text-233"/>
          <p:cNvSpPr txBox="1"/>
          <p:nvPr/>
        </p:nvSpPr>
        <p:spPr>
          <a:xfrm>
            <a:off x="2617013" y="25603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對照法規、函釋與照護指引</a:t>
            </a:r>
            <a:endParaRPr lang="zh-TW" altLang="en-US" sz="1500" dirty="0"/>
          </a:p>
        </p:txBody>
      </p:sp>
      <p:sp>
        <p:nvSpPr>
          <p:cNvPr id="10" name="card-234"/>
          <p:cNvSpPr/>
          <p:nvPr/>
        </p:nvSpPr>
        <p:spPr>
          <a:xfrm>
            <a:off x="4283050" y="1783080"/>
            <a:ext cx="1755648" cy="1783080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1" name="step-no-235"/>
          <p:cNvSpPr/>
          <p:nvPr/>
        </p:nvSpPr>
        <p:spPr>
          <a:xfrm>
            <a:off x="4484218" y="19659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zh-TW" altLang="en-US" sz="1500" dirty="0"/>
          </a:p>
        </p:txBody>
      </p:sp>
      <p:sp>
        <p:nvSpPr>
          <p:cNvPr id="12" name="text-236"/>
          <p:cNvSpPr txBox="1"/>
          <p:nvPr/>
        </p:nvSpPr>
        <p:spPr>
          <a:xfrm>
            <a:off x="4484218" y="25603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用 AI 整理成一張張現場卡</a:t>
            </a:r>
            <a:endParaRPr lang="zh-TW" altLang="en-US" sz="1500" dirty="0"/>
          </a:p>
        </p:txBody>
      </p:sp>
      <p:sp>
        <p:nvSpPr>
          <p:cNvPr id="13" name="card-237"/>
          <p:cNvSpPr/>
          <p:nvPr/>
        </p:nvSpPr>
        <p:spPr>
          <a:xfrm>
            <a:off x="6150254" y="1783080"/>
            <a:ext cx="1755648" cy="1783080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4" name="step-no-238"/>
          <p:cNvSpPr/>
          <p:nvPr/>
        </p:nvSpPr>
        <p:spPr>
          <a:xfrm>
            <a:off x="6351422" y="19659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zh-TW" altLang="en-US" sz="1500" dirty="0"/>
          </a:p>
        </p:txBody>
      </p:sp>
      <p:sp>
        <p:nvSpPr>
          <p:cNvPr id="15" name="text-239"/>
          <p:cNvSpPr txBox="1"/>
          <p:nvPr/>
        </p:nvSpPr>
        <p:spPr>
          <a:xfrm>
            <a:off x="6351422" y="25603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治療師逐條校對修正</a:t>
            </a:r>
            <a:endParaRPr lang="zh-TW" altLang="en-US" sz="1500" dirty="0"/>
          </a:p>
        </p:txBody>
      </p:sp>
      <p:sp>
        <p:nvSpPr>
          <p:cNvPr id="16" name="card-240"/>
          <p:cNvSpPr/>
          <p:nvPr/>
        </p:nvSpPr>
        <p:spPr>
          <a:xfrm>
            <a:off x="8017459" y="1783080"/>
            <a:ext cx="1755648" cy="1783080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7" name="step-no-241"/>
          <p:cNvSpPr/>
          <p:nvPr/>
        </p:nvSpPr>
        <p:spPr>
          <a:xfrm>
            <a:off x="8218627" y="19659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zh-TW" altLang="en-US" sz="1500" dirty="0"/>
          </a:p>
        </p:txBody>
      </p:sp>
      <p:sp>
        <p:nvSpPr>
          <p:cNvPr id="18" name="text-242"/>
          <p:cNvSpPr txBox="1"/>
          <p:nvPr/>
        </p:nvSpPr>
        <p:spPr>
          <a:xfrm>
            <a:off x="8218627" y="25603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做成免費網頁，手機就能開</a:t>
            </a:r>
            <a:endParaRPr lang="zh-TW" altLang="en-US" sz="1500" dirty="0"/>
          </a:p>
        </p:txBody>
      </p:sp>
      <p:sp>
        <p:nvSpPr>
          <p:cNvPr id="19" name="card-243"/>
          <p:cNvSpPr/>
          <p:nvPr/>
        </p:nvSpPr>
        <p:spPr>
          <a:xfrm>
            <a:off x="9884664" y="1783080"/>
            <a:ext cx="1755648" cy="1783080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20" name="step-no-244"/>
          <p:cNvSpPr/>
          <p:nvPr/>
        </p:nvSpPr>
        <p:spPr>
          <a:xfrm>
            <a:off x="10085832" y="19659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zh-TW" altLang="en-US" sz="1500" dirty="0"/>
          </a:p>
        </p:txBody>
      </p:sp>
      <p:sp>
        <p:nvSpPr>
          <p:cNvPr id="21" name="text-245"/>
          <p:cNvSpPr txBox="1"/>
          <p:nvPr/>
        </p:nvSpPr>
        <p:spPr>
          <a:xfrm>
            <a:off x="10085832" y="25603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夥伴回饋，持續更新</a:t>
            </a:r>
            <a:endParaRPr lang="zh-TW" altLang="en-US" sz="1500" dirty="0"/>
          </a:p>
        </p:txBody>
      </p:sp>
      <p:sp>
        <p:nvSpPr>
          <p:cNvPr id="22" name="card-246"/>
          <p:cNvSpPr/>
          <p:nvPr/>
        </p:nvSpPr>
        <p:spPr>
          <a:xfrm>
            <a:off x="548640" y="3794760"/>
            <a:ext cx="54223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23" name="text-247"/>
          <p:cNvSpPr txBox="1"/>
          <p:nvPr/>
        </p:nvSpPr>
        <p:spPr>
          <a:xfrm>
            <a:off x="86868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400" b="1" dirty="0">
                <a:solidFill>
                  <a:schemeClr val="tx1"/>
                </a:solidFill>
              </a:rPr>
              <a:t>給單位主管</a:t>
            </a:r>
            <a:endParaRPr lang="zh-TW" altLang="en-US" sz="2400" dirty="0"/>
          </a:p>
        </p:txBody>
      </p:sp>
      <p:sp>
        <p:nvSpPr>
          <p:cNvPr id="24" name="text-248"/>
          <p:cNvSpPr txBox="1"/>
          <p:nvPr/>
        </p:nvSpPr>
        <p:spPr>
          <a:xfrm>
            <a:off x="868680" y="4617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dirty="0">
                <a:solidFill>
                  <a:schemeClr val="accent6"/>
                </a:solidFill>
              </a:rPr>
              <a:t>從十個最常被打電話問的問題開始，就是你們自己的資料庫。</a:t>
            </a:r>
            <a:endParaRPr lang="zh-TW" altLang="en-US" sz="1700" dirty="0"/>
          </a:p>
        </p:txBody>
      </p:sp>
      <p:sp>
        <p:nvSpPr>
          <p:cNvPr id="25" name="card-249"/>
          <p:cNvSpPr/>
          <p:nvPr/>
        </p:nvSpPr>
        <p:spPr>
          <a:xfrm>
            <a:off x="6190488" y="3794760"/>
            <a:ext cx="54223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26" name="text-250"/>
          <p:cNvSpPr txBox="1"/>
          <p:nvPr/>
        </p:nvSpPr>
        <p:spPr>
          <a:xfrm>
            <a:off x="6510528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400" b="1" dirty="0">
                <a:solidFill>
                  <a:schemeClr val="tx1"/>
                </a:solidFill>
              </a:rPr>
              <a:t>給第一線夥伴</a:t>
            </a:r>
            <a:endParaRPr lang="zh-TW" altLang="en-US" sz="2400" dirty="0"/>
          </a:p>
        </p:txBody>
      </p:sp>
      <p:sp>
        <p:nvSpPr>
          <p:cNvPr id="27" name="text-251"/>
          <p:cNvSpPr txBox="1"/>
          <p:nvPr/>
        </p:nvSpPr>
        <p:spPr>
          <a:xfrm>
            <a:off x="6510528" y="4617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dirty="0">
                <a:solidFill>
                  <a:schemeClr val="accent6"/>
                </a:solidFill>
              </a:rPr>
              <a:t>遇到狀況先查、再問、後記錄。工具讓你不慌，不是讓你自己扛。</a:t>
            </a:r>
            <a:endParaRPr lang="zh-TW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6"/>
                </a:solidFill>
              </a:rPr>
              <a:t>所有資源，點了就開</a:t>
            </a:r>
            <a:endParaRPr lang="zh-TW" alt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400" b="1" dirty="0">
                <a:solidFill>
                  <a:schemeClr val="tx1"/>
                </a:solidFill>
              </a:rPr>
              <a:t>今天提到的網站，</a:t>
            </a:r>
            <a:pPr algn="l" indent="0" marL="0">
              <a:buNone/>
            </a:pPr>
            <a:r>
              <a:rPr lang="zh-TW" altLang="en-US" sz="3400" b="1" dirty="0">
                <a:solidFill>
                  <a:schemeClr val="accent1"/>
                </a:solidFill>
              </a:rPr>
              <a:t>都在這裡</a:t>
            </a:r>
            <a:endParaRPr lang="zh-TW" altLang="en-US" sz="3400" dirty="0"/>
          </a:p>
        </p:txBody>
      </p:sp>
      <p:sp>
        <p:nvSpPr>
          <p:cNvPr id="4" name="text-252"/>
          <p:cNvSpPr txBox="1"/>
          <p:nvPr/>
        </p:nvSpPr>
        <p:spPr>
          <a:xfrm>
            <a:off x="548640" y="17830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1"/>
                </a:solidFill>
              </a:rPr>
              <a:t>三個工具</a:t>
            </a:r>
            <a:endParaRPr lang="zh-TW" altLang="en-US" sz="1400" dirty="0"/>
          </a:p>
        </p:txBody>
      </p:sp>
      <p:sp>
        <p:nvSpPr>
          <p:cNvPr id="5" name="card-253"/>
          <p:cNvSpPr/>
          <p:nvPr/>
        </p:nvSpPr>
        <p:spPr>
          <a:xfrm>
            <a:off x="548640" y="2176272"/>
            <a:ext cx="3611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6" name="dot-254"/>
          <p:cNvSpPr/>
          <p:nvPr/>
        </p:nvSpPr>
        <p:spPr>
          <a:xfrm>
            <a:off x="731520" y="2432304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255"/>
          <p:cNvSpPr txBox="1"/>
          <p:nvPr/>
        </p:nvSpPr>
        <p:spPr>
          <a:xfrm>
            <a:off x="1005840" y="224942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照顧・復能・異常事件</a:t>
            </a:r>
            <a:endParaRPr lang="zh-TW" altLang="en-US" sz="1500" dirty="0"/>
          </a:p>
        </p:txBody>
      </p:sp>
      <p:sp>
        <p:nvSpPr>
          <p:cNvPr id="8" name="text-256"/>
          <p:cNvSpPr txBox="1"/>
          <p:nvPr/>
        </p:nvSpPr>
        <p:spPr>
          <a:xfrm>
            <a:off x="1005840" y="25420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居服員專業資料庫，一框搜全部</a:t>
            </a:r>
            <a:endParaRPr lang="zh-TW" altLang="en-US" sz="1100" dirty="0"/>
          </a:p>
        </p:txBody>
      </p:sp>
      <p:sp>
        <p:nvSpPr>
          <p:cNvPr id="9" name="text-257"/>
          <p:cNvSpPr txBox="1"/>
          <p:nvPr/>
        </p:nvSpPr>
        <p:spPr>
          <a:xfrm>
            <a:off x="3703320" y="23408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zh-TW" altLang="en-US" sz="1800" dirty="0"/>
          </a:p>
        </p:txBody>
      </p:sp>
      <p:pic>
        <p:nvPicPr>
          <p:cNvPr id="10" name="link-258" descr="照顧・復能・異常事件">
            <a:hlinkClick r:id="rId2" tooltip="照顧・復能・異常事件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76272"/>
            <a:ext cx="3611880" cy="658368"/>
          </a:xfrm>
          <a:prstGeom prst="rect">
            <a:avLst/>
          </a:prstGeom>
        </p:spPr>
      </p:pic>
      <p:sp>
        <p:nvSpPr>
          <p:cNvPr id="11" name="card-259"/>
          <p:cNvSpPr/>
          <p:nvPr/>
        </p:nvSpPr>
        <p:spPr>
          <a:xfrm>
            <a:off x="548640" y="2944368"/>
            <a:ext cx="3611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2" name="dot-260"/>
          <p:cNvSpPr/>
          <p:nvPr/>
        </p:nvSpPr>
        <p:spPr>
          <a:xfrm>
            <a:off x="731520" y="320040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261"/>
          <p:cNvSpPr txBox="1"/>
          <p:nvPr/>
        </p:nvSpPr>
        <p:spPr>
          <a:xfrm>
            <a:off x="1005840" y="301752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長照輔具資料庫</a:t>
            </a:r>
            <a:endParaRPr lang="zh-TW" altLang="en-US" sz="1500" dirty="0"/>
          </a:p>
        </p:txBody>
      </p:sp>
      <p:sp>
        <p:nvSpPr>
          <p:cNvPr id="14" name="text-262"/>
          <p:cNvSpPr txBox="1"/>
          <p:nvPr/>
        </p:nvSpPr>
        <p:spPr>
          <a:xfrm>
            <a:off x="1005840" y="331012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功能、GMFCS、食衣住行樂查詢</a:t>
            </a:r>
            <a:endParaRPr lang="zh-TW" altLang="en-US" sz="1100" dirty="0"/>
          </a:p>
        </p:txBody>
      </p:sp>
      <p:sp>
        <p:nvSpPr>
          <p:cNvPr id="15" name="text-263"/>
          <p:cNvSpPr txBox="1"/>
          <p:nvPr/>
        </p:nvSpPr>
        <p:spPr>
          <a:xfrm>
            <a:off x="3703320" y="310896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zh-TW" altLang="en-US" sz="1800" dirty="0"/>
          </a:p>
        </p:txBody>
      </p:sp>
      <p:pic>
        <p:nvPicPr>
          <p:cNvPr id="16" name="link-264" descr="長照輔具資料庫">
            <a:hlinkClick r:id="rId4" tooltip="長照輔具資料庫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44368"/>
            <a:ext cx="3611880" cy="658368"/>
          </a:xfrm>
          <a:prstGeom prst="rect">
            <a:avLst/>
          </a:prstGeom>
        </p:spPr>
      </p:pic>
      <p:sp>
        <p:nvSpPr>
          <p:cNvPr id="17" name="card-265"/>
          <p:cNvSpPr/>
          <p:nvPr/>
        </p:nvSpPr>
        <p:spPr>
          <a:xfrm>
            <a:off x="548640" y="3712464"/>
            <a:ext cx="3611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18" name="dot-266"/>
          <p:cNvSpPr/>
          <p:nvPr/>
        </p:nvSpPr>
        <p:spPr>
          <a:xfrm>
            <a:off x="731520" y="3968496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-267"/>
          <p:cNvSpPr txBox="1"/>
          <p:nvPr/>
        </p:nvSpPr>
        <p:spPr>
          <a:xfrm>
            <a:off x="1005840" y="378561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輔具補助查詢</a:t>
            </a:r>
            <a:endParaRPr lang="zh-TW" altLang="en-US" sz="1500" dirty="0"/>
          </a:p>
        </p:txBody>
      </p:sp>
      <p:sp>
        <p:nvSpPr>
          <p:cNvPr id="20" name="text-268"/>
          <p:cNvSpPr txBox="1"/>
          <p:nvPr/>
        </p:nvSpPr>
        <p:spPr>
          <a:xfrm>
            <a:off x="1005840" y="407822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生活魔法師：長照・身障補助方向</a:t>
            </a:r>
            <a:endParaRPr lang="zh-TW" altLang="en-US" sz="1100" dirty="0"/>
          </a:p>
        </p:txBody>
      </p:sp>
      <p:sp>
        <p:nvSpPr>
          <p:cNvPr id="21" name="text-269"/>
          <p:cNvSpPr txBox="1"/>
          <p:nvPr/>
        </p:nvSpPr>
        <p:spPr>
          <a:xfrm>
            <a:off x="3703320" y="387705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zh-TW" altLang="en-US" sz="1800" dirty="0"/>
          </a:p>
        </p:txBody>
      </p:sp>
      <p:pic>
        <p:nvPicPr>
          <p:cNvPr id="22" name="link-270" descr="輔具補助查詢">
            <a:hlinkClick r:id="rId6" tooltip="輔具補助查詢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12464"/>
            <a:ext cx="3611880" cy="658368"/>
          </a:xfrm>
          <a:prstGeom prst="rect">
            <a:avLst/>
          </a:prstGeom>
        </p:spPr>
      </p:pic>
      <p:sp>
        <p:nvSpPr>
          <p:cNvPr id="23" name="text-271"/>
          <p:cNvSpPr txBox="1"/>
          <p:nvPr/>
        </p:nvSpPr>
        <p:spPr>
          <a:xfrm>
            <a:off x="4343400" y="17830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4"/>
                </a:solidFill>
              </a:rPr>
              <a:t>五個教案</a:t>
            </a:r>
            <a:endParaRPr lang="zh-TW" altLang="en-US" sz="1400" dirty="0"/>
          </a:p>
        </p:txBody>
      </p:sp>
      <p:sp>
        <p:nvSpPr>
          <p:cNvPr id="24" name="card-272"/>
          <p:cNvSpPr/>
          <p:nvPr/>
        </p:nvSpPr>
        <p:spPr>
          <a:xfrm>
            <a:off x="4343400" y="2176272"/>
            <a:ext cx="3611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25" name="dot-273"/>
          <p:cNvSpPr/>
          <p:nvPr/>
        </p:nvSpPr>
        <p:spPr>
          <a:xfrm>
            <a:off x="4526280" y="2432304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-274"/>
          <p:cNvSpPr txBox="1"/>
          <p:nvPr/>
        </p:nvSpPr>
        <p:spPr>
          <a:xfrm>
            <a:off x="4800600" y="224942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台灣好味島</a:t>
            </a:r>
            <a:endParaRPr lang="zh-TW" altLang="en-US" sz="1500" dirty="0"/>
          </a:p>
        </p:txBody>
      </p:sp>
      <p:sp>
        <p:nvSpPr>
          <p:cNvPr id="27" name="text-275"/>
          <p:cNvSpPr txBox="1"/>
          <p:nvPr/>
        </p:nvSpPr>
        <p:spPr>
          <a:xfrm>
            <a:off x="4800600" y="25420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22 縣市名產景點 3D 小島</a:t>
            </a:r>
            <a:endParaRPr lang="zh-TW" altLang="en-US" sz="1100" dirty="0"/>
          </a:p>
        </p:txBody>
      </p:sp>
      <p:sp>
        <p:nvSpPr>
          <p:cNvPr id="28" name="text-276"/>
          <p:cNvSpPr txBox="1"/>
          <p:nvPr/>
        </p:nvSpPr>
        <p:spPr>
          <a:xfrm>
            <a:off x="7498080" y="23408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zh-TW" altLang="en-US" sz="1800" dirty="0"/>
          </a:p>
        </p:txBody>
      </p:sp>
      <p:pic>
        <p:nvPicPr>
          <p:cNvPr id="29" name="link-277" descr="台灣好味島">
            <a:hlinkClick r:id="rId8" tooltip="台灣好味島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2176272"/>
            <a:ext cx="3611880" cy="658368"/>
          </a:xfrm>
          <a:prstGeom prst="rect">
            <a:avLst/>
          </a:prstGeom>
        </p:spPr>
      </p:pic>
      <p:sp>
        <p:nvSpPr>
          <p:cNvPr id="30" name="card-278"/>
          <p:cNvSpPr/>
          <p:nvPr/>
        </p:nvSpPr>
        <p:spPr>
          <a:xfrm>
            <a:off x="4343400" y="2944368"/>
            <a:ext cx="3611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31" name="dot-279"/>
          <p:cNvSpPr/>
          <p:nvPr/>
        </p:nvSpPr>
        <p:spPr>
          <a:xfrm>
            <a:off x="4526280" y="3200400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ext-280"/>
          <p:cNvSpPr txBox="1"/>
          <p:nvPr/>
        </p:nvSpPr>
        <p:spPr>
          <a:xfrm>
            <a:off x="4800600" y="301752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纏繞畫步驟示範</a:t>
            </a:r>
            <a:endParaRPr lang="zh-TW" altLang="en-US" sz="1500" dirty="0"/>
          </a:p>
        </p:txBody>
      </p:sp>
      <p:sp>
        <p:nvSpPr>
          <p:cNvPr id="33" name="text-281"/>
          <p:cNvSpPr txBox="1"/>
          <p:nvPr/>
        </p:nvSpPr>
        <p:spPr>
          <a:xfrm>
            <a:off x="4800600" y="331012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36 課動畫＋A4 學習單</a:t>
            </a:r>
            <a:endParaRPr lang="zh-TW" altLang="en-US" sz="1100" dirty="0"/>
          </a:p>
        </p:txBody>
      </p:sp>
      <p:sp>
        <p:nvSpPr>
          <p:cNvPr id="34" name="text-282"/>
          <p:cNvSpPr txBox="1"/>
          <p:nvPr/>
        </p:nvSpPr>
        <p:spPr>
          <a:xfrm>
            <a:off x="7498080" y="310896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zh-TW" altLang="en-US" sz="1800" dirty="0"/>
          </a:p>
        </p:txBody>
      </p:sp>
      <p:pic>
        <p:nvPicPr>
          <p:cNvPr id="35" name="link-283" descr="纏繞畫步驟示範">
            <a:hlinkClick r:id="rId10" tooltip="纏繞畫步驟示範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3400" y="2944368"/>
            <a:ext cx="3611880" cy="658368"/>
          </a:xfrm>
          <a:prstGeom prst="rect">
            <a:avLst/>
          </a:prstGeom>
        </p:spPr>
      </p:pic>
      <p:sp>
        <p:nvSpPr>
          <p:cNvPr id="36" name="card-284"/>
          <p:cNvSpPr/>
          <p:nvPr/>
        </p:nvSpPr>
        <p:spPr>
          <a:xfrm>
            <a:off x="4343400" y="3712464"/>
            <a:ext cx="3611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37" name="dot-285"/>
          <p:cNvSpPr/>
          <p:nvPr/>
        </p:nvSpPr>
        <p:spPr>
          <a:xfrm>
            <a:off x="4526280" y="3968496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text-286"/>
          <p:cNvSpPr txBox="1"/>
          <p:nvPr/>
        </p:nvSpPr>
        <p:spPr>
          <a:xfrm>
            <a:off x="4800600" y="378561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日本日照團康影片庫</a:t>
            </a:r>
            <a:endParaRPr lang="zh-TW" altLang="en-US" sz="1500" dirty="0"/>
          </a:p>
        </p:txBody>
      </p:sp>
      <p:sp>
        <p:nvSpPr>
          <p:cNvPr id="39" name="text-287"/>
          <p:cNvSpPr txBox="1"/>
          <p:nvPr/>
        </p:nvSpPr>
        <p:spPr>
          <a:xfrm>
            <a:off x="4800600" y="407822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350 支影片中文整理</a:t>
            </a:r>
            <a:endParaRPr lang="zh-TW" altLang="en-US" sz="1100" dirty="0"/>
          </a:p>
        </p:txBody>
      </p:sp>
      <p:sp>
        <p:nvSpPr>
          <p:cNvPr id="40" name="text-288"/>
          <p:cNvSpPr txBox="1"/>
          <p:nvPr/>
        </p:nvSpPr>
        <p:spPr>
          <a:xfrm>
            <a:off x="7498080" y="387705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zh-TW" altLang="en-US" sz="1800" dirty="0"/>
          </a:p>
        </p:txBody>
      </p:sp>
      <p:pic>
        <p:nvPicPr>
          <p:cNvPr id="41" name="link-289" descr="日本日照團康影片庫">
            <a:hlinkClick r:id="rId12" tooltip="日本日照團康影片庫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3400" y="3712464"/>
            <a:ext cx="3611880" cy="658368"/>
          </a:xfrm>
          <a:prstGeom prst="rect">
            <a:avLst/>
          </a:prstGeom>
        </p:spPr>
      </p:pic>
      <p:sp>
        <p:nvSpPr>
          <p:cNvPr id="42" name="card-290"/>
          <p:cNvSpPr/>
          <p:nvPr/>
        </p:nvSpPr>
        <p:spPr>
          <a:xfrm>
            <a:off x="4343400" y="4480560"/>
            <a:ext cx="3611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43" name="dot-291"/>
          <p:cNvSpPr/>
          <p:nvPr/>
        </p:nvSpPr>
        <p:spPr>
          <a:xfrm>
            <a:off x="4526280" y="4736592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4" name="text-292"/>
          <p:cNvSpPr txBox="1"/>
          <p:nvPr/>
        </p:nvSpPr>
        <p:spPr>
          <a:xfrm>
            <a:off x="4800600" y="455371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懷舊金曲猜歌</a:t>
            </a:r>
            <a:endParaRPr lang="zh-TW" altLang="en-US" sz="1500" dirty="0"/>
          </a:p>
        </p:txBody>
      </p:sp>
      <p:sp>
        <p:nvSpPr>
          <p:cNvPr id="45" name="text-293"/>
          <p:cNvSpPr txBox="1"/>
          <p:nvPr/>
        </p:nvSpPr>
        <p:spPr>
          <a:xfrm>
            <a:off x="4800600" y="4846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20 首金曲互動</a:t>
            </a:r>
            <a:endParaRPr lang="zh-TW" altLang="en-US" sz="1100" dirty="0"/>
          </a:p>
        </p:txBody>
      </p:sp>
      <p:sp>
        <p:nvSpPr>
          <p:cNvPr id="46" name="text-294"/>
          <p:cNvSpPr txBox="1"/>
          <p:nvPr/>
        </p:nvSpPr>
        <p:spPr>
          <a:xfrm>
            <a:off x="7498080" y="464515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zh-TW" altLang="en-US" sz="1800" dirty="0"/>
          </a:p>
        </p:txBody>
      </p:sp>
      <p:pic>
        <p:nvPicPr>
          <p:cNvPr id="47" name="link-295" descr="懷舊金曲猜歌">
            <a:hlinkClick r:id="rId14" tooltip="懷舊金曲猜歌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4480560"/>
            <a:ext cx="3611880" cy="658368"/>
          </a:xfrm>
          <a:prstGeom prst="rect">
            <a:avLst/>
          </a:prstGeom>
        </p:spPr>
      </p:pic>
      <p:sp>
        <p:nvSpPr>
          <p:cNvPr id="48" name="card-296"/>
          <p:cNvSpPr/>
          <p:nvPr/>
        </p:nvSpPr>
        <p:spPr>
          <a:xfrm>
            <a:off x="4343400" y="5248656"/>
            <a:ext cx="361188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49" name="dot-297"/>
          <p:cNvSpPr/>
          <p:nvPr/>
        </p:nvSpPr>
        <p:spPr>
          <a:xfrm>
            <a:off x="4526280" y="550468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0" name="text-298"/>
          <p:cNvSpPr txBox="1"/>
          <p:nvPr/>
        </p:nvSpPr>
        <p:spPr>
          <a:xfrm>
            <a:off x="4800600" y="532180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老藝人猜猜看</a:t>
            </a:r>
            <a:endParaRPr lang="zh-TW" altLang="en-US" sz="1500" dirty="0"/>
          </a:p>
        </p:txBody>
      </p:sp>
      <p:sp>
        <p:nvSpPr>
          <p:cNvPr id="51" name="text-299"/>
          <p:cNvSpPr txBox="1"/>
          <p:nvPr/>
        </p:nvSpPr>
        <p:spPr>
          <a:xfrm>
            <a:off x="4800600" y="561441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30 位藝人照片互動</a:t>
            </a:r>
            <a:endParaRPr lang="zh-TW" altLang="en-US" sz="1100" dirty="0"/>
          </a:p>
        </p:txBody>
      </p:sp>
      <p:sp>
        <p:nvSpPr>
          <p:cNvPr id="52" name="text-300"/>
          <p:cNvSpPr txBox="1"/>
          <p:nvPr/>
        </p:nvSpPr>
        <p:spPr>
          <a:xfrm>
            <a:off x="7498080" y="541324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zh-TW" altLang="en-US" sz="1800" dirty="0"/>
          </a:p>
        </p:txBody>
      </p:sp>
      <p:pic>
        <p:nvPicPr>
          <p:cNvPr id="53" name="link-301" descr="老藝人猜猜看">
            <a:hlinkClick r:id="rId16" tooltip="老藝人猜猜看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43400" y="5248656"/>
            <a:ext cx="3611880" cy="658368"/>
          </a:xfrm>
          <a:prstGeom prst="rect">
            <a:avLst/>
          </a:prstGeom>
        </p:spPr>
      </p:pic>
      <p:sp>
        <p:nvSpPr>
          <p:cNvPr id="54" name="text-302"/>
          <p:cNvSpPr txBox="1"/>
          <p:nvPr/>
        </p:nvSpPr>
        <p:spPr>
          <a:xfrm>
            <a:off x="8138160" y="178308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spc="200" kern="0" dirty="0">
                <a:solidFill>
                  <a:schemeClr val="accent5"/>
                </a:solidFill>
              </a:rPr>
              <a:t>追蹤・分享</a:t>
            </a:r>
            <a:endParaRPr lang="zh-TW" altLang="en-US" sz="1400" dirty="0"/>
          </a:p>
        </p:txBody>
      </p:sp>
      <p:sp>
        <p:nvSpPr>
          <p:cNvPr id="55" name="card-303"/>
          <p:cNvSpPr/>
          <p:nvPr/>
        </p:nvSpPr>
        <p:spPr>
          <a:xfrm>
            <a:off x="8138160" y="2176272"/>
            <a:ext cx="3502152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sp>
        <p:nvSpPr>
          <p:cNvPr id="56" name="dot-304"/>
          <p:cNvSpPr/>
          <p:nvPr/>
        </p:nvSpPr>
        <p:spPr>
          <a:xfrm>
            <a:off x="8321040" y="2432304"/>
            <a:ext cx="146304" cy="1463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7" name="text-305"/>
          <p:cNvSpPr txBox="1"/>
          <p:nvPr/>
        </p:nvSpPr>
        <p:spPr>
          <a:xfrm>
            <a:off x="8595360" y="2249424"/>
            <a:ext cx="2496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臉書粉專</a:t>
            </a:r>
            <a:endParaRPr lang="zh-TW" altLang="en-US" sz="1500" dirty="0"/>
          </a:p>
        </p:txBody>
      </p:sp>
      <p:sp>
        <p:nvSpPr>
          <p:cNvPr id="58" name="text-306"/>
          <p:cNvSpPr txBox="1"/>
          <p:nvPr/>
        </p:nvSpPr>
        <p:spPr>
          <a:xfrm>
            <a:off x="8595360" y="2542032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每天教案與專業文章，留言即可取得</a:t>
            </a:r>
            <a:endParaRPr lang="zh-TW" altLang="en-US" sz="1100" dirty="0"/>
          </a:p>
        </p:txBody>
      </p:sp>
      <p:sp>
        <p:nvSpPr>
          <p:cNvPr id="59" name="text-307"/>
          <p:cNvSpPr txBox="1"/>
          <p:nvPr/>
        </p:nvSpPr>
        <p:spPr>
          <a:xfrm>
            <a:off x="11183112" y="23408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zh-TW" altLang="en-US" sz="1800" dirty="0"/>
          </a:p>
        </p:txBody>
      </p:sp>
      <p:pic>
        <p:nvPicPr>
          <p:cNvPr id="60" name="link-308" descr="臉書粉專">
            <a:hlinkClick r:id="rId18" tooltip="臉書粉專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38160" y="2176272"/>
            <a:ext cx="3502152" cy="658368"/>
          </a:xfrm>
          <a:prstGeom prst="rect">
            <a:avLst/>
          </a:prstGeom>
        </p:spPr>
      </p:pic>
      <p:sp>
        <p:nvSpPr>
          <p:cNvPr id="61" name="deck-qr-card-309"/>
          <p:cNvSpPr/>
          <p:nvPr/>
        </p:nvSpPr>
        <p:spPr>
          <a:xfrm>
            <a:off x="8138160" y="2971800"/>
            <a:ext cx="3502152" cy="2926080"/>
          </a:xfrm>
          <a:prstGeom prst="roundRect">
            <a:avLst>
              <a:gd name="adj" fmla="val 4375"/>
            </a:avLst>
          </a:prstGeom>
          <a:solidFill>
            <a:schemeClr val="bg1"/>
          </a:solidFill>
          <a:ln w="9525">
            <a:solidFill>
              <a:schemeClr val="accent6">
                <a:alpha val="25000"/>
              </a:schemeClr>
            </a:solidFill>
            <a:prstDash val="solid"/>
          </a:ln>
        </p:spPr>
      </p:sp>
      <p:pic>
        <p:nvPicPr>
          <p:cNvPr id="62" name="deck-qr-310" descr="網頁簡報 QR code">
            <a:hlinkClick r:id="rId20" tooltip="開啟網頁簡報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15984" y="3127248"/>
            <a:ext cx="1737360" cy="1737360"/>
          </a:xfrm>
          <a:prstGeom prst="rect">
            <a:avLst/>
          </a:prstGeom>
        </p:spPr>
      </p:pic>
      <p:sp>
        <p:nvSpPr>
          <p:cNvPr id="63" name="text-311"/>
          <p:cNvSpPr txBox="1"/>
          <p:nvPr/>
        </p:nvSpPr>
        <p:spPr>
          <a:xfrm>
            <a:off x="8275320" y="495604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分享這份簡報</a:t>
            </a:r>
            <a:endParaRPr lang="zh-TW" altLang="en-US" sz="1600" dirty="0"/>
          </a:p>
        </p:txBody>
      </p:sp>
      <p:sp>
        <p:nvSpPr>
          <p:cNvPr id="64" name="text-312"/>
          <p:cNvSpPr txBox="1"/>
          <p:nvPr/>
        </p:nvSpPr>
        <p:spPr>
          <a:xfrm>
            <a:off x="8275320" y="530352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mattsue1003.github.io/</a:t>
            </a:r>
            <a:endParaRPr lang="zh-TW" alt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ai-care-database-talk</a:t>
            </a:r>
            <a:endParaRPr lang="zh-TW" altLang="en-US" sz="1000" dirty="0"/>
          </a:p>
        </p:txBody>
      </p:sp>
      <p:pic>
        <p:nvPicPr>
          <p:cNvPr id="65" name="link-313" descr="開啟網頁簡報">
            <a:hlinkClick r:id="rId22" tooltip="開啟網頁簡報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38160" y="2971800"/>
            <a:ext cx="3502152" cy="2926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TW" altLang="en-US"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ward-314"/>
          <p:cNvSpPr/>
          <p:nvPr/>
        </p:nvSpPr>
        <p:spPr>
          <a:xfrm>
            <a:off x="548640" y="1097280"/>
            <a:ext cx="237744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accent5"/>
                </a:solidFill>
              </a:rPr>
              <a:t>★  老師真會獎</a:t>
            </a:r>
            <a:endParaRPr lang="zh-TW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6000" b="1" dirty="0">
                <a:solidFill>
                  <a:schemeClr val="bg1"/>
                </a:solidFill>
              </a:rPr>
              <a:t>謝謝大家</a:t>
            </a:r>
            <a:endParaRPr lang="zh-TW" altLang="en-US" sz="6000" dirty="0"/>
          </a:p>
        </p:txBody>
      </p:sp>
      <p:sp>
        <p:nvSpPr>
          <p:cNvPr id="4" name="text-315"/>
          <p:cNvSpPr txBox="1"/>
          <p:nvPr/>
        </p:nvSpPr>
        <p:spPr>
          <a:xfrm>
            <a:off x="548640" y="3246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dirty="0">
                <a:solidFill>
                  <a:schemeClr val="bg2"/>
                </a:solidFill>
              </a:rPr>
              <a:t>這個獎屬於每一位在案家、一個人面對現場的照顧夥伴。</a:t>
            </a:r>
            <a:endParaRPr lang="zh-TW" altLang="en-US" sz="2200" dirty="0"/>
          </a:p>
        </p:txBody>
      </p:sp>
      <p:sp>
        <p:nvSpPr>
          <p:cNvPr id="5" name="thanks-316"/>
          <p:cNvSpPr/>
          <p:nvPr/>
        </p:nvSpPr>
        <p:spPr>
          <a:xfrm>
            <a:off x="548640" y="4114800"/>
            <a:ext cx="1234440" cy="502920"/>
          </a:xfrm>
          <a:prstGeom prst="roundRect">
            <a:avLst>
              <a:gd name="adj" fmla="val 45455"/>
            </a:avLst>
          </a:prstGeom>
          <a:solidFill>
            <a:schemeClr val="tx1"/>
          </a:solidFill>
          <a:ln w="12700">
            <a:solidFill>
              <a:schemeClr val="bg2">
                <a:alpha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dirty="0">
                <a:solidFill>
                  <a:schemeClr val="bg1"/>
                </a:solidFill>
              </a:rPr>
              <a:t>優照護</a:t>
            </a:r>
            <a:endParaRPr lang="zh-TW" altLang="en-US" sz="1600" dirty="0"/>
          </a:p>
        </p:txBody>
      </p:sp>
      <p:sp>
        <p:nvSpPr>
          <p:cNvPr id="6" name="thanks-317"/>
          <p:cNvSpPr/>
          <p:nvPr/>
        </p:nvSpPr>
        <p:spPr>
          <a:xfrm>
            <a:off x="1965960" y="4114800"/>
            <a:ext cx="3291840" cy="502920"/>
          </a:xfrm>
          <a:prstGeom prst="roundRect">
            <a:avLst>
              <a:gd name="adj" fmla="val 45455"/>
            </a:avLst>
          </a:prstGeom>
          <a:solidFill>
            <a:schemeClr val="tx1"/>
          </a:solidFill>
          <a:ln w="12700">
            <a:solidFill>
              <a:schemeClr val="bg2">
                <a:alpha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dirty="0">
                <a:solidFill>
                  <a:schemeClr val="bg1"/>
                </a:solidFill>
              </a:rPr>
              <a:t>中華高齡專業照護訓練協會</a:t>
            </a:r>
            <a:endParaRPr lang="zh-TW" altLang="en-US" sz="1600" dirty="0"/>
          </a:p>
        </p:txBody>
      </p:sp>
      <p:sp>
        <p:nvSpPr>
          <p:cNvPr id="7" name="thanks-318"/>
          <p:cNvSpPr/>
          <p:nvPr/>
        </p:nvSpPr>
        <p:spPr>
          <a:xfrm>
            <a:off x="5440680" y="4114800"/>
            <a:ext cx="2148840" cy="502920"/>
          </a:xfrm>
          <a:prstGeom prst="roundRect">
            <a:avLst>
              <a:gd name="adj" fmla="val 45455"/>
            </a:avLst>
          </a:prstGeom>
          <a:solidFill>
            <a:schemeClr val="tx1"/>
          </a:solidFill>
          <a:ln w="12700">
            <a:solidFill>
              <a:schemeClr val="bg2">
                <a:alpha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600" dirty="0">
                <a:solidFill>
                  <a:schemeClr val="bg1"/>
                </a:solidFill>
              </a:rPr>
              <a:t>每一位照顧夥伴</a:t>
            </a:r>
            <a:endParaRPr lang="zh-TW" altLang="en-US" sz="1600" dirty="0"/>
          </a:p>
        </p:txBody>
      </p:sp>
      <p:sp>
        <p:nvSpPr>
          <p:cNvPr id="8" name="fb-button-319"/>
          <p:cNvSpPr/>
          <p:nvPr/>
        </p:nvSpPr>
        <p:spPr>
          <a:xfrm>
            <a:off x="548640" y="5120640"/>
            <a:ext cx="3840480" cy="594360"/>
          </a:xfrm>
          <a:prstGeom prst="roundRect">
            <a:avLst>
              <a:gd name="adj" fmla="val 18462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bg1"/>
                </a:solidFill>
              </a:rPr>
              <a:t>臉書粉專：按讚・追蹤・分享 ↗</a:t>
            </a:r>
            <a:endParaRPr lang="zh-TW" altLang="en-US" sz="1700" dirty="0"/>
          </a:p>
        </p:txBody>
      </p:sp>
      <p:pic>
        <p:nvPicPr>
          <p:cNvPr id="9" name="link-320" descr="前往臉書粉專">
            <a:hlinkClick r:id="rId2" tooltip="前往臉書粉專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120640"/>
            <a:ext cx="3840480" cy="594360"/>
          </a:xfrm>
          <a:prstGeom prst="rect">
            <a:avLst/>
          </a:prstGeom>
        </p:spPr>
      </p:pic>
      <p:sp>
        <p:nvSpPr>
          <p:cNvPr id="10" name="text-321"/>
          <p:cNvSpPr txBox="1"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bg2"/>
                </a:solidFill>
              </a:rPr>
              <a:t>鍾孟修　職能治療師｜愛迪樂</a:t>
            </a:r>
            <a:endParaRPr lang="zh-TW" alt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照顧資料庫">
  <a:themeElements>
    <a:clrScheme name="AI 照顧資料庫">
      <a:dk1>
        <a:srgbClr val="122B27"/>
      </a:dk1>
      <a:lt1>
        <a:srgbClr val="FFFFFF"/>
      </a:lt1>
      <a:dk2>
        <a:srgbClr val="0E6B5C"/>
      </a:dk2>
      <a:lt2>
        <a:srgbClr val="F2F5F3"/>
      </a:lt2>
      <a:accent1>
        <a:srgbClr val="0E6B5C"/>
      </a:accent1>
      <a:accent2>
        <a:srgbClr val="2F4FB8"/>
      </a:accent2>
      <a:accent3>
        <a:srgbClr val="D9481F"/>
      </a:accent3>
      <a:accent4>
        <a:srgbClr val="8A4FB0"/>
      </a:accent4>
      <a:accent5>
        <a:srgbClr val="B8862B"/>
      </a:accent5>
      <a:accent6>
        <a:srgbClr val="4F625D"/>
      </a:accent6>
      <a:hlink>
        <a:srgbClr val="2F4FB8"/>
      </a:hlink>
      <a:folHlink>
        <a:srgbClr val="8A4FB0"/>
      </a:folHlink>
    </a:clrScheme>
    <a:fontScheme name="AI 照顧資料庫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AI輔助於照顧、復能以及異常事件資料庫之應用</dc:title>
  <dc:subject>2026 高照之心表揚大會 老師真會獎 演講</dc:subject>
  <dc:creator>鍾孟修 職能治療師</dc:creator>
  <cp:lastModifiedBy>鍾孟修 職能治療師</cp:lastModifiedBy>
  <cp:revision>1</cp:revision>
  <dcterms:created xsi:type="dcterms:W3CDTF">2026-10-29T06:36:42Z</dcterms:created>
  <dcterms:modified xsi:type="dcterms:W3CDTF">2026-10-29T06:36:42Z</dcterms:modified>
</cp:coreProperties>
</file>